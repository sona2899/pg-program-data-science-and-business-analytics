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1" r:id="rId2"/>
    <p:sldId id="263" r:id="rId3"/>
    <p:sldId id="274" r:id="rId4"/>
    <p:sldId id="265" r:id="rId5"/>
    <p:sldId id="275" r:id="rId6"/>
    <p:sldId id="276" r:id="rId7"/>
    <p:sldId id="273" r:id="rId8"/>
    <p:sldId id="277" r:id="rId9"/>
    <p:sldId id="278" r:id="rId10"/>
    <p:sldId id="272" r:id="rId11"/>
    <p:sldId id="279" r:id="rId12"/>
    <p:sldId id="2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8" userDrawn="1">
          <p15:clr>
            <a:srgbClr val="A4A3A4"/>
          </p15:clr>
        </p15:guide>
        <p15:guide id="2" pos="1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99D3"/>
    <a:srgbClr val="436FC1"/>
    <a:srgbClr val="A2A4A4"/>
    <a:srgbClr val="254175"/>
    <a:srgbClr val="6D6868"/>
    <a:srgbClr val="005296"/>
    <a:srgbClr val="014D8E"/>
    <a:srgbClr val="00589F"/>
    <a:srgbClr val="005FA8"/>
    <a:srgbClr val="005A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70"/>
    <p:restoredTop sz="94817" autoAdjust="0"/>
  </p:normalViewPr>
  <p:slideViewPr>
    <p:cSldViewPr snapToGrid="0" snapToObjects="1" showGuides="1">
      <p:cViewPr varScale="1">
        <p:scale>
          <a:sx n="81" d="100"/>
          <a:sy n="81" d="100"/>
        </p:scale>
        <p:origin x="533" y="53"/>
      </p:cViewPr>
      <p:guideLst>
        <p:guide orient="horz" pos="3748"/>
        <p:guide pos="1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896B-F54D-CB4E-8E1F-E922CD2678B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B9CB30-EEA7-6C48-BA49-131675470A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30C9555-C9B4-D94D-A6AC-7000721C11DA}"/>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5" name="Footer Placeholder 4">
            <a:extLst>
              <a:ext uri="{FF2B5EF4-FFF2-40B4-BE49-F238E27FC236}">
                <a16:creationId xmlns:a16="http://schemas.microsoft.com/office/drawing/2014/main" id="{41E0B8D3-9A29-B64E-B444-0F0A1CB16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5229D4-3156-F845-AAA9-9F4AAF57EA97}"/>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2912532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2A24-3BCF-104F-B2B4-808FFA12F3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09C088-CD2E-5547-B2FF-83C53C83431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9CFA407-11D9-5947-BBF3-D9FAD7D347D0}"/>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5" name="Footer Placeholder 4">
            <a:extLst>
              <a:ext uri="{FF2B5EF4-FFF2-40B4-BE49-F238E27FC236}">
                <a16:creationId xmlns:a16="http://schemas.microsoft.com/office/drawing/2014/main" id="{C8D7F927-7DAC-9341-842B-0FD264B3B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25873C-CF74-1049-BA6C-9C81E0EE9384}"/>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1933571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1A87C-251F-CB4D-AA3C-16067809D9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D1BE4E9-9A6A-714C-9DDC-E4500738C0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B349ECF-C4D9-6E4A-840B-E852BB7D8AEE}"/>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5" name="Footer Placeholder 4">
            <a:extLst>
              <a:ext uri="{FF2B5EF4-FFF2-40B4-BE49-F238E27FC236}">
                <a16:creationId xmlns:a16="http://schemas.microsoft.com/office/drawing/2014/main" id="{FEFAB227-288D-904A-95BB-5BE988289E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2B549-73B6-8C4B-B667-111ADF176B04}"/>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103341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7E6A-42EF-944F-A701-188B72DAC70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1611A28-F85A-CD49-95B6-8BDD3110BDA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7370336-DDE3-E147-AAC4-D175A5EE413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97FC7F5-0F77-CC4E-A7F3-E09E89CD3354}"/>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6" name="Footer Placeholder 5">
            <a:extLst>
              <a:ext uri="{FF2B5EF4-FFF2-40B4-BE49-F238E27FC236}">
                <a16:creationId xmlns:a16="http://schemas.microsoft.com/office/drawing/2014/main" id="{893B59C2-A178-754D-898A-11EDEB4AD5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372E9B-7AC7-E942-A5A8-7CF1D9F2315B}"/>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3457738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9D4EE-9647-124A-A396-2CD16418360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17BC021-8473-1247-A0A3-6E92389A52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5461C68-B174-6F42-A27E-E6DFD2819BF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6A13931-4430-B94E-B071-1A9E67B5CD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3A3A001-AFF5-8242-A49C-787813881EA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2947992-8148-4B4B-88CE-1BD94B6291A2}"/>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8" name="Footer Placeholder 7">
            <a:extLst>
              <a:ext uri="{FF2B5EF4-FFF2-40B4-BE49-F238E27FC236}">
                <a16:creationId xmlns:a16="http://schemas.microsoft.com/office/drawing/2014/main" id="{43778456-4CE9-8E47-A1D5-F506F16D89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D1E0FB-33FF-614D-A183-66470F06D6B2}"/>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885467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ACE1-36CE-3A43-83D4-971EE0EFFB0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C14C53A-F68C-C543-B6B1-7918BAF3540B}"/>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4" name="Footer Placeholder 3">
            <a:extLst>
              <a:ext uri="{FF2B5EF4-FFF2-40B4-BE49-F238E27FC236}">
                <a16:creationId xmlns:a16="http://schemas.microsoft.com/office/drawing/2014/main" id="{AA0ACA56-584B-8249-9BAB-AD5093169F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822BB5-F0BF-C94C-BF58-AFC8229696EB}"/>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2593622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068E9B-E8B9-FD4D-B2B9-D4F02F0B2B31}"/>
              </a:ext>
            </a:extLst>
          </p:cNvPr>
          <p:cNvSpPr/>
          <p:nvPr userDrawn="1"/>
        </p:nvSpPr>
        <p:spPr>
          <a:xfrm>
            <a:off x="11328400" y="0"/>
            <a:ext cx="863600" cy="6858000"/>
          </a:xfrm>
          <a:prstGeom prst="rect">
            <a:avLst/>
          </a:prstGeom>
          <a:gradFill>
            <a:gsLst>
              <a:gs pos="37000">
                <a:srgbClr val="0070C0"/>
              </a:gs>
              <a:gs pos="100000">
                <a:srgbClr val="00B0F0"/>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4B40D476-EEF5-7540-AF03-C95B5E3ABBED}"/>
              </a:ext>
            </a:extLst>
          </p:cNvPr>
          <p:cNvPicPr>
            <a:picLocks noChangeAspect="1"/>
          </p:cNvPicPr>
          <p:nvPr userDrawn="1"/>
        </p:nvPicPr>
        <p:blipFill rotWithShape="1">
          <a:blip r:embed="rId2"/>
          <a:srcRect l="7025" t="16383" r="11065" b="12297"/>
          <a:stretch/>
        </p:blipFill>
        <p:spPr>
          <a:xfrm>
            <a:off x="0" y="0"/>
            <a:ext cx="11328400" cy="6858000"/>
          </a:xfrm>
          <a:prstGeom prst="rect">
            <a:avLst/>
          </a:prstGeom>
        </p:spPr>
      </p:pic>
    </p:spTree>
    <p:extLst>
      <p:ext uri="{BB962C8B-B14F-4D97-AF65-F5344CB8AC3E}">
        <p14:creationId xmlns:p14="http://schemas.microsoft.com/office/powerpoint/2010/main" val="1316404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B40D476-EEF5-7540-AF03-C95B5E3ABBED}"/>
              </a:ext>
            </a:extLst>
          </p:cNvPr>
          <p:cNvPicPr>
            <a:picLocks noChangeAspect="1"/>
          </p:cNvPicPr>
          <p:nvPr userDrawn="1"/>
        </p:nvPicPr>
        <p:blipFill rotWithShape="1">
          <a:blip r:embed="rId2"/>
          <a:srcRect l="4619" t="13182" r="3002" b="7575"/>
          <a:stretch/>
        </p:blipFill>
        <p:spPr>
          <a:xfrm>
            <a:off x="0" y="1"/>
            <a:ext cx="12192000" cy="6858000"/>
          </a:xfrm>
          <a:prstGeom prst="rect">
            <a:avLst/>
          </a:prstGeom>
        </p:spPr>
      </p:pic>
    </p:spTree>
    <p:extLst>
      <p:ext uri="{BB962C8B-B14F-4D97-AF65-F5344CB8AC3E}">
        <p14:creationId xmlns:p14="http://schemas.microsoft.com/office/powerpoint/2010/main" val="434342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068E9B-E8B9-FD4D-B2B9-D4F02F0B2B31}"/>
              </a:ext>
            </a:extLst>
          </p:cNvPr>
          <p:cNvSpPr/>
          <p:nvPr userDrawn="1"/>
        </p:nvSpPr>
        <p:spPr>
          <a:xfrm>
            <a:off x="11328400" y="0"/>
            <a:ext cx="863600" cy="6858000"/>
          </a:xfrm>
          <a:prstGeom prst="rect">
            <a:avLst/>
          </a:prstGeom>
          <a:gradFill>
            <a:gsLst>
              <a:gs pos="37000">
                <a:srgbClr val="0070C0"/>
              </a:gs>
              <a:gs pos="100000">
                <a:srgbClr val="00B0F0"/>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839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F07356-A34D-4F4D-A489-BAAA1D2552E9}"/>
              </a:ext>
            </a:extLst>
          </p:cNvPr>
          <p:cNvPicPr>
            <a:picLocks noChangeAspect="1"/>
          </p:cNvPicPr>
          <p:nvPr userDrawn="1"/>
        </p:nvPicPr>
        <p:blipFill rotWithShape="1">
          <a:blip r:embed="rId2"/>
          <a:srcRect l="1825" t="12803" r="7288" b="46015"/>
          <a:stretch/>
        </p:blipFill>
        <p:spPr>
          <a:xfrm>
            <a:off x="0" y="0"/>
            <a:ext cx="12192000" cy="3616864"/>
          </a:xfrm>
          <a:prstGeom prst="rect">
            <a:avLst/>
          </a:prstGeom>
        </p:spPr>
      </p:pic>
      <p:pic>
        <p:nvPicPr>
          <p:cNvPr id="24" name="Picture 23">
            <a:extLst>
              <a:ext uri="{FF2B5EF4-FFF2-40B4-BE49-F238E27FC236}">
                <a16:creationId xmlns:a16="http://schemas.microsoft.com/office/drawing/2014/main" id="{1B503D70-FF35-A949-A3D8-E63C868F360C}"/>
              </a:ext>
            </a:extLst>
          </p:cNvPr>
          <p:cNvPicPr>
            <a:picLocks noChangeAspect="1"/>
          </p:cNvPicPr>
          <p:nvPr userDrawn="1"/>
        </p:nvPicPr>
        <p:blipFill rotWithShape="1">
          <a:blip r:embed="rId3"/>
          <a:srcRect l="4686" t="451" r="7375" b="1"/>
          <a:stretch/>
        </p:blipFill>
        <p:spPr>
          <a:xfrm rot="20436793">
            <a:off x="-188402" y="2374729"/>
            <a:ext cx="13432426" cy="5601308"/>
          </a:xfrm>
          <a:custGeom>
            <a:avLst/>
            <a:gdLst>
              <a:gd name="connsiteX0" fmla="*/ 12359125 w 13432426"/>
              <a:gd name="connsiteY0" fmla="*/ 0 h 5601308"/>
              <a:gd name="connsiteX1" fmla="*/ 13432426 w 13432426"/>
              <a:gd name="connsiteY1" fmla="*/ 377691 h 5601308"/>
              <a:gd name="connsiteX2" fmla="*/ 13432426 w 13432426"/>
              <a:gd name="connsiteY2" fmla="*/ 778593 h 5601308"/>
              <a:gd name="connsiteX3" fmla="*/ 11735330 w 13432426"/>
              <a:gd name="connsiteY3" fmla="*/ 5601308 h 5601308"/>
              <a:gd name="connsiteX4" fmla="*/ 9605975 w 13432426"/>
              <a:gd name="connsiteY4" fmla="*/ 5601308 h 5601308"/>
              <a:gd name="connsiteX5" fmla="*/ 0 w 13432426"/>
              <a:gd name="connsiteY5" fmla="*/ 2221001 h 5601308"/>
              <a:gd name="connsiteX6" fmla="*/ 781562 w 13432426"/>
              <a:gd name="connsiteY6" fmla="*/ 0 h 5601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2426" h="5601308">
                <a:moveTo>
                  <a:pt x="12359125" y="0"/>
                </a:moveTo>
                <a:lnTo>
                  <a:pt x="13432426" y="377691"/>
                </a:lnTo>
                <a:lnTo>
                  <a:pt x="13432426" y="778593"/>
                </a:lnTo>
                <a:lnTo>
                  <a:pt x="11735330" y="5601308"/>
                </a:lnTo>
                <a:lnTo>
                  <a:pt x="9605975" y="5601308"/>
                </a:lnTo>
                <a:lnTo>
                  <a:pt x="0" y="2221001"/>
                </a:lnTo>
                <a:lnTo>
                  <a:pt x="781562" y="0"/>
                </a:lnTo>
                <a:close/>
              </a:path>
            </a:pathLst>
          </a:custGeom>
        </p:spPr>
      </p:pic>
    </p:spTree>
    <p:extLst>
      <p:ext uri="{BB962C8B-B14F-4D97-AF65-F5344CB8AC3E}">
        <p14:creationId xmlns:p14="http://schemas.microsoft.com/office/powerpoint/2010/main" val="59360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068E9B-E8B9-FD4D-B2B9-D4F02F0B2B31}"/>
              </a:ext>
            </a:extLst>
          </p:cNvPr>
          <p:cNvSpPr/>
          <p:nvPr userDrawn="1"/>
        </p:nvSpPr>
        <p:spPr>
          <a:xfrm>
            <a:off x="11328400" y="0"/>
            <a:ext cx="863600" cy="6858000"/>
          </a:xfrm>
          <a:prstGeom prst="rect">
            <a:avLst/>
          </a:prstGeom>
          <a:gradFill>
            <a:gsLst>
              <a:gs pos="37000">
                <a:srgbClr val="0070C0"/>
              </a:gs>
              <a:gs pos="100000">
                <a:srgbClr val="00B0F0"/>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18BA7AC-F33E-C740-BF8D-F8385FEFA684}"/>
              </a:ext>
            </a:extLst>
          </p:cNvPr>
          <p:cNvPicPr>
            <a:picLocks noChangeAspect="1"/>
          </p:cNvPicPr>
          <p:nvPr userDrawn="1"/>
        </p:nvPicPr>
        <p:blipFill rotWithShape="1">
          <a:blip r:embed="rId2"/>
          <a:srcRect l="7025" t="16383" r="11065" b="12297"/>
          <a:stretch/>
        </p:blipFill>
        <p:spPr>
          <a:xfrm>
            <a:off x="0" y="0"/>
            <a:ext cx="11328400" cy="6858000"/>
          </a:xfrm>
          <a:prstGeom prst="rect">
            <a:avLst/>
          </a:prstGeom>
        </p:spPr>
      </p:pic>
      <p:sp>
        <p:nvSpPr>
          <p:cNvPr id="6" name="Oval 5">
            <a:extLst>
              <a:ext uri="{FF2B5EF4-FFF2-40B4-BE49-F238E27FC236}">
                <a16:creationId xmlns:a16="http://schemas.microsoft.com/office/drawing/2014/main" id="{D2832F23-5F8E-C24A-924C-295E5E3C0658}"/>
              </a:ext>
            </a:extLst>
          </p:cNvPr>
          <p:cNvSpPr/>
          <p:nvPr userDrawn="1"/>
        </p:nvSpPr>
        <p:spPr>
          <a:xfrm>
            <a:off x="10778066" y="5338233"/>
            <a:ext cx="1130300" cy="1130300"/>
          </a:xfrm>
          <a:prstGeom prst="ellipse">
            <a:avLst/>
          </a:prstGeom>
          <a:solidFill>
            <a:schemeClr val="bg1"/>
          </a:solidFill>
          <a:ln>
            <a:noFill/>
          </a:ln>
          <a:effectLst>
            <a:outerShdw blurRad="177800" dist="12700" dir="2580000" sx="104000" sy="104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lose up of a sign&#10;&#10;Description automatically generated">
            <a:extLst>
              <a:ext uri="{FF2B5EF4-FFF2-40B4-BE49-F238E27FC236}">
                <a16:creationId xmlns:a16="http://schemas.microsoft.com/office/drawing/2014/main" id="{94B41FC5-8BC2-BB44-AC5B-4D88A0635522}"/>
              </a:ext>
            </a:extLst>
          </p:cNvPr>
          <p:cNvPicPr>
            <a:picLocks noChangeAspect="1"/>
          </p:cNvPicPr>
          <p:nvPr userDrawn="1"/>
        </p:nvPicPr>
        <p:blipFill>
          <a:blip r:embed="rId3"/>
          <a:stretch>
            <a:fillRect/>
          </a:stretch>
        </p:blipFill>
        <p:spPr>
          <a:xfrm>
            <a:off x="10962216" y="5520267"/>
            <a:ext cx="762000" cy="762000"/>
          </a:xfrm>
          <a:prstGeom prst="rect">
            <a:avLst/>
          </a:prstGeom>
        </p:spPr>
      </p:pic>
    </p:spTree>
    <p:extLst>
      <p:ext uri="{BB962C8B-B14F-4D97-AF65-F5344CB8AC3E}">
        <p14:creationId xmlns:p14="http://schemas.microsoft.com/office/powerpoint/2010/main" val="2250643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068E9B-E8B9-FD4D-B2B9-D4F02F0B2B31}"/>
              </a:ext>
            </a:extLst>
          </p:cNvPr>
          <p:cNvSpPr/>
          <p:nvPr userDrawn="1"/>
        </p:nvSpPr>
        <p:spPr>
          <a:xfrm>
            <a:off x="11328400" y="0"/>
            <a:ext cx="863600" cy="6858000"/>
          </a:xfrm>
          <a:prstGeom prst="rect">
            <a:avLst/>
          </a:prstGeom>
          <a:gradFill>
            <a:gsLst>
              <a:gs pos="37000">
                <a:srgbClr val="0070C0"/>
              </a:gs>
              <a:gs pos="100000">
                <a:srgbClr val="00B0F0"/>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2832F23-5F8E-C24A-924C-295E5E3C0658}"/>
              </a:ext>
            </a:extLst>
          </p:cNvPr>
          <p:cNvSpPr/>
          <p:nvPr userDrawn="1"/>
        </p:nvSpPr>
        <p:spPr>
          <a:xfrm>
            <a:off x="10778066" y="5338233"/>
            <a:ext cx="1130300" cy="1130300"/>
          </a:xfrm>
          <a:prstGeom prst="ellipse">
            <a:avLst/>
          </a:prstGeom>
          <a:solidFill>
            <a:schemeClr val="bg1"/>
          </a:solidFill>
          <a:ln>
            <a:noFill/>
          </a:ln>
          <a:effectLst>
            <a:outerShdw blurRad="177800" dist="12700" dir="2580000" sx="104000" sy="104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lose up of a sign&#10;&#10;Description automatically generated">
            <a:extLst>
              <a:ext uri="{FF2B5EF4-FFF2-40B4-BE49-F238E27FC236}">
                <a16:creationId xmlns:a16="http://schemas.microsoft.com/office/drawing/2014/main" id="{94B41FC5-8BC2-BB44-AC5B-4D88A0635522}"/>
              </a:ext>
            </a:extLst>
          </p:cNvPr>
          <p:cNvPicPr>
            <a:picLocks noChangeAspect="1"/>
          </p:cNvPicPr>
          <p:nvPr userDrawn="1"/>
        </p:nvPicPr>
        <p:blipFill>
          <a:blip r:embed="rId2"/>
          <a:stretch>
            <a:fillRect/>
          </a:stretch>
        </p:blipFill>
        <p:spPr>
          <a:xfrm>
            <a:off x="10962216" y="5520267"/>
            <a:ext cx="762000" cy="762000"/>
          </a:xfrm>
          <a:prstGeom prst="rect">
            <a:avLst/>
          </a:prstGeom>
        </p:spPr>
      </p:pic>
    </p:spTree>
    <p:extLst>
      <p:ext uri="{BB962C8B-B14F-4D97-AF65-F5344CB8AC3E}">
        <p14:creationId xmlns:p14="http://schemas.microsoft.com/office/powerpoint/2010/main" val="2776564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31018-2976-AA49-A740-DDC5D6D70D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DD3960F-3B9D-134F-920F-56EC4DE58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899E991-8828-2049-9393-950FD703A1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ED5707-B915-DA47-9178-0C1ABADB0FD6}"/>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6" name="Footer Placeholder 5">
            <a:extLst>
              <a:ext uri="{FF2B5EF4-FFF2-40B4-BE49-F238E27FC236}">
                <a16:creationId xmlns:a16="http://schemas.microsoft.com/office/drawing/2014/main" id="{D564392B-A7E4-D143-BD60-F9538421A8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51E37-109A-B343-B780-F7233ACAF45C}"/>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1333701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22277-4EFA-E743-8BB3-E6C403E666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F2D57E5-3218-D44D-89DB-D869107F77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0F2D83-EAB4-CA44-A7F7-C18A4A715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85B392-C1F3-764E-9AA3-457044F124D7}"/>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6" name="Footer Placeholder 5">
            <a:extLst>
              <a:ext uri="{FF2B5EF4-FFF2-40B4-BE49-F238E27FC236}">
                <a16:creationId xmlns:a16="http://schemas.microsoft.com/office/drawing/2014/main" id="{8354A54A-FF07-7C48-999A-67D71B4B08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48022A-1337-0B44-AEA8-E4615BE3D78C}"/>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2622958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33C27-9C65-3E45-873D-7188A5407D8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8668386-7936-D842-93AB-FC92510A5CF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951898-E20A-7241-B4F6-77B54730E075}"/>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5" name="Footer Placeholder 4">
            <a:extLst>
              <a:ext uri="{FF2B5EF4-FFF2-40B4-BE49-F238E27FC236}">
                <a16:creationId xmlns:a16="http://schemas.microsoft.com/office/drawing/2014/main" id="{B1C5934C-A9FF-B24C-8179-DD4A08F838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62683F-F7E4-5848-A263-3A612EE69924}"/>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3205880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D2FD4F-C622-364D-BAB7-1FCE29216DF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006E67C-1202-244C-8382-954898328A9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E755452-BB22-FC4D-B6DC-D4C0270D6C42}"/>
              </a:ext>
            </a:extLst>
          </p:cNvPr>
          <p:cNvSpPr>
            <a:spLocks noGrp="1"/>
          </p:cNvSpPr>
          <p:nvPr>
            <p:ph type="dt" sz="half" idx="10"/>
          </p:nvPr>
        </p:nvSpPr>
        <p:spPr/>
        <p:txBody>
          <a:bodyPr/>
          <a:lstStyle/>
          <a:p>
            <a:fld id="{9A82BF8E-211B-9C43-825C-0671E50D7E39}" type="datetimeFigureOut">
              <a:rPr lang="en-US" smtClean="0"/>
              <a:t>5/2/2025</a:t>
            </a:fld>
            <a:endParaRPr lang="en-US"/>
          </a:p>
        </p:txBody>
      </p:sp>
      <p:sp>
        <p:nvSpPr>
          <p:cNvPr id="5" name="Footer Placeholder 4">
            <a:extLst>
              <a:ext uri="{FF2B5EF4-FFF2-40B4-BE49-F238E27FC236}">
                <a16:creationId xmlns:a16="http://schemas.microsoft.com/office/drawing/2014/main" id="{265DABA5-026E-9641-AAB0-00A2093D8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8273DA-7F7F-9343-A113-D4F5DF98BB6C}"/>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111016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80D5B3-FA64-FD40-A370-F37EF9C6C7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2717060-FA86-7942-99EC-88B397F155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9D0105-0DFD-3F40-AA87-1642704DF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82BF8E-211B-9C43-825C-0671E50D7E39}" type="datetimeFigureOut">
              <a:rPr lang="en-US" smtClean="0"/>
              <a:t>5/2/2025</a:t>
            </a:fld>
            <a:endParaRPr lang="en-US"/>
          </a:p>
        </p:txBody>
      </p:sp>
      <p:sp>
        <p:nvSpPr>
          <p:cNvPr id="5" name="Footer Placeholder 4">
            <a:extLst>
              <a:ext uri="{FF2B5EF4-FFF2-40B4-BE49-F238E27FC236}">
                <a16:creationId xmlns:a16="http://schemas.microsoft.com/office/drawing/2014/main" id="{DF93CF04-95E7-7144-8A2B-1D7ADE9274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B88691-866E-CF46-9919-541469EDC6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4FFDC9-3D54-674E-86E0-9C3C86728DA7}" type="slidenum">
              <a:rPr lang="en-US" smtClean="0"/>
              <a:t>‹#›</a:t>
            </a:fld>
            <a:endParaRPr lang="en-US"/>
          </a:p>
        </p:txBody>
      </p:sp>
    </p:spTree>
    <p:extLst>
      <p:ext uri="{BB962C8B-B14F-4D97-AF65-F5344CB8AC3E}">
        <p14:creationId xmlns:p14="http://schemas.microsoft.com/office/powerpoint/2010/main" val="31973598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7" r:id="rId8"/>
    <p:sldLayoutId id="2147483673" r:id="rId9"/>
    <p:sldLayoutId id="2147483675" r:id="rId10"/>
    <p:sldLayoutId id="2147483674" r:id="rId11"/>
    <p:sldLayoutId id="2147483676" r:id="rId12"/>
    <p:sldLayoutId id="2147483668" r:id="rId13"/>
    <p:sldLayoutId id="2147483669" r:id="rId14"/>
    <p:sldLayoutId id="2147483670" r:id="rId15"/>
    <p:sldLayoutId id="2147483671"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8621ED-814E-F441-93A2-B7DC230A79A3}"/>
              </a:ext>
            </a:extLst>
          </p:cNvPr>
          <p:cNvPicPr>
            <a:picLocks noChangeAspect="1"/>
          </p:cNvPicPr>
          <p:nvPr/>
        </p:nvPicPr>
        <p:blipFill>
          <a:blip r:embed="rId2"/>
          <a:stretch>
            <a:fillRect/>
          </a:stretch>
        </p:blipFill>
        <p:spPr>
          <a:xfrm>
            <a:off x="179119" y="595020"/>
            <a:ext cx="3021463" cy="590312"/>
          </a:xfrm>
          <a:prstGeom prst="rect">
            <a:avLst/>
          </a:prstGeom>
        </p:spPr>
      </p:pic>
      <p:sp>
        <p:nvSpPr>
          <p:cNvPr id="2" name="TextBox 1">
            <a:extLst>
              <a:ext uri="{FF2B5EF4-FFF2-40B4-BE49-F238E27FC236}">
                <a16:creationId xmlns:a16="http://schemas.microsoft.com/office/drawing/2014/main" id="{DF890AA6-3288-7A41-9F48-31D099259D5C}"/>
              </a:ext>
            </a:extLst>
          </p:cNvPr>
          <p:cNvSpPr txBox="1"/>
          <p:nvPr/>
        </p:nvSpPr>
        <p:spPr>
          <a:xfrm>
            <a:off x="282105" y="2367874"/>
            <a:ext cx="7778162" cy="907941"/>
          </a:xfrm>
          <a:prstGeom prst="rect">
            <a:avLst/>
          </a:prstGeom>
          <a:noFill/>
        </p:spPr>
        <p:txBody>
          <a:bodyPr wrap="square" rtlCol="0">
            <a:spAutoFit/>
          </a:bodyPr>
          <a:lstStyle/>
          <a:p>
            <a:r>
              <a:rPr lang="en-US" sz="5300" b="1" dirty="0">
                <a:solidFill>
                  <a:srgbClr val="0070C0"/>
                </a:solidFill>
                <a:latin typeface="Arial" panose="020B0604020202020204" pitchFamily="34" charset="0"/>
                <a:cs typeface="Arial" panose="020B0604020202020204" pitchFamily="34" charset="0"/>
              </a:rPr>
              <a:t>Capstone Presentation</a:t>
            </a:r>
          </a:p>
        </p:txBody>
      </p:sp>
      <p:sp>
        <p:nvSpPr>
          <p:cNvPr id="3" name="TextBox 2">
            <a:extLst>
              <a:ext uri="{FF2B5EF4-FFF2-40B4-BE49-F238E27FC236}">
                <a16:creationId xmlns:a16="http://schemas.microsoft.com/office/drawing/2014/main" id="{5A740E41-0F8D-4151-979A-4270FBA95E57}"/>
              </a:ext>
            </a:extLst>
          </p:cNvPr>
          <p:cNvSpPr txBox="1"/>
          <p:nvPr/>
        </p:nvSpPr>
        <p:spPr>
          <a:xfrm>
            <a:off x="348658" y="3075057"/>
            <a:ext cx="6554166" cy="830997"/>
          </a:xfrm>
          <a:prstGeom prst="rect">
            <a:avLst/>
          </a:prstGeom>
          <a:noFill/>
        </p:spPr>
        <p:txBody>
          <a:bodyPr wrap="square" rtlCol="0">
            <a:spAutoFit/>
          </a:bodyPr>
          <a:lstStyle/>
          <a:p>
            <a:r>
              <a:rPr lang="en-IN" sz="4800" b="1" dirty="0">
                <a:solidFill>
                  <a:srgbClr val="002060"/>
                </a:solidFill>
                <a:latin typeface="Arial" panose="020B0604020202020204" pitchFamily="34" charset="0"/>
                <a:cs typeface="Arial" panose="020B0604020202020204" pitchFamily="34" charset="0"/>
              </a:rPr>
              <a:t>Social Media Tourism</a:t>
            </a:r>
          </a:p>
        </p:txBody>
      </p:sp>
      <p:sp>
        <p:nvSpPr>
          <p:cNvPr id="5" name="TextBox 4">
            <a:extLst>
              <a:ext uri="{FF2B5EF4-FFF2-40B4-BE49-F238E27FC236}">
                <a16:creationId xmlns:a16="http://schemas.microsoft.com/office/drawing/2014/main" id="{C01BCB16-C718-7B54-F1E8-C63B3AED9963}"/>
              </a:ext>
            </a:extLst>
          </p:cNvPr>
          <p:cNvSpPr txBox="1"/>
          <p:nvPr/>
        </p:nvSpPr>
        <p:spPr>
          <a:xfrm>
            <a:off x="7844118" y="6211669"/>
            <a:ext cx="3818965" cy="646331"/>
          </a:xfrm>
          <a:prstGeom prst="rect">
            <a:avLst/>
          </a:prstGeom>
          <a:noFill/>
        </p:spPr>
        <p:txBody>
          <a:bodyPr wrap="square" rtlCol="0">
            <a:spAutoFit/>
          </a:bodyPr>
          <a:lstStyle/>
          <a:p>
            <a:r>
              <a:rPr lang="en-IN" sz="2000" dirty="0"/>
              <a:t>                                </a:t>
            </a:r>
            <a:r>
              <a:rPr lang="en-IN" sz="3600" dirty="0">
                <a:solidFill>
                  <a:srgbClr val="002060"/>
                </a:solidFill>
              </a:rPr>
              <a:t>SONA G</a:t>
            </a:r>
          </a:p>
        </p:txBody>
      </p:sp>
    </p:spTree>
    <p:extLst>
      <p:ext uri="{BB962C8B-B14F-4D97-AF65-F5344CB8AC3E}">
        <p14:creationId xmlns:p14="http://schemas.microsoft.com/office/powerpoint/2010/main" val="3252274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02C64F-B802-E343-B318-70D330A9A3FE}"/>
              </a:ext>
            </a:extLst>
          </p:cNvPr>
          <p:cNvSpPr/>
          <p:nvPr/>
        </p:nvSpPr>
        <p:spPr>
          <a:xfrm>
            <a:off x="-896471" y="917294"/>
            <a:ext cx="12066495"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Business Problem Understanding</a:t>
            </a:r>
          </a:p>
        </p:txBody>
      </p:sp>
      <p:sp>
        <p:nvSpPr>
          <p:cNvPr id="7" name="TextBox 6">
            <a:extLst>
              <a:ext uri="{FF2B5EF4-FFF2-40B4-BE49-F238E27FC236}">
                <a16:creationId xmlns:a16="http://schemas.microsoft.com/office/drawing/2014/main" id="{A84B8933-F44C-374A-B677-D79AD8184284}"/>
              </a:ext>
            </a:extLst>
          </p:cNvPr>
          <p:cNvSpPr txBox="1"/>
          <p:nvPr/>
        </p:nvSpPr>
        <p:spPr>
          <a:xfrm>
            <a:off x="62752" y="1549869"/>
            <a:ext cx="11367247" cy="4801314"/>
          </a:xfrm>
          <a:prstGeom prst="rect">
            <a:avLst/>
          </a:prstGeom>
          <a:noFill/>
        </p:spPr>
        <p:txBody>
          <a:bodyPr wrap="square" rtlCol="0">
            <a:spAutoFit/>
          </a:bodyPr>
          <a:lstStyle/>
          <a:p>
            <a:pPr>
              <a:buNone/>
            </a:pPr>
            <a:br>
              <a:rPr lang="en-IN" sz="2400" dirty="0">
                <a:solidFill>
                  <a:srgbClr val="002060"/>
                </a:solidFill>
                <a:latin typeface="Arial" panose="020B0604020202020204" pitchFamily="34" charset="0"/>
                <a:cs typeface="Arial" panose="020B0604020202020204" pitchFamily="34" charset="0"/>
              </a:rPr>
            </a:br>
            <a:r>
              <a:rPr lang="en-IN" sz="2400" dirty="0">
                <a:solidFill>
                  <a:srgbClr val="002060"/>
                </a:solidFill>
                <a:latin typeface="Arial" panose="020B0604020202020204" pitchFamily="34" charset="0"/>
                <a:cs typeface="Arial" panose="020B0604020202020204" pitchFamily="34" charset="0"/>
              </a:rPr>
              <a:t>Problem Statement</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An aviation company is exploring </a:t>
            </a:r>
            <a:r>
              <a:rPr lang="en-US" sz="1600" b="1" dirty="0">
                <a:latin typeface="Arial" panose="020B0604020202020204" pitchFamily="34" charset="0"/>
                <a:cs typeface="Arial" panose="020B0604020202020204" pitchFamily="34" charset="0"/>
              </a:rPr>
              <a:t>digital marketing platforms </a:t>
            </a:r>
            <a:r>
              <a:rPr lang="en-US" sz="1600" dirty="0">
                <a:latin typeface="Arial" panose="020B0604020202020204" pitchFamily="34" charset="0"/>
                <a:cs typeface="Arial" panose="020B0604020202020204" pitchFamily="34" charset="0"/>
              </a:rPr>
              <a:t>to design a strategy for targeting potential customers.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To support this effort, the company has partnered with a social networking platform to gain insights into customers' digital and social behavior.</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Digital advertisements will be shown on the user pages of individuals who are identified as having a high likelihood of engaging with or purchasing the product.</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Since the likelihood of purchasing tickets varies by login device, two separate models must be developed: one for </a:t>
            </a:r>
            <a:r>
              <a:rPr lang="en-US" sz="1600" b="1" dirty="0">
                <a:latin typeface="Arial" panose="020B0604020202020204" pitchFamily="34" charset="0"/>
                <a:cs typeface="Arial" panose="020B0604020202020204" pitchFamily="34" charset="0"/>
              </a:rPr>
              <a:t>laptop users </a:t>
            </a:r>
            <a:r>
              <a:rPr lang="en-US" sz="1600" dirty="0">
                <a:latin typeface="Arial" panose="020B0604020202020204" pitchFamily="34" charset="0"/>
                <a:cs typeface="Arial" panose="020B0604020202020204" pitchFamily="34" charset="0"/>
              </a:rPr>
              <a:t>and one for </a:t>
            </a:r>
            <a:r>
              <a:rPr lang="en-US" sz="1600" b="1" dirty="0">
                <a:latin typeface="Arial" panose="020B0604020202020204" pitchFamily="34" charset="0"/>
                <a:cs typeface="Arial" panose="020B0604020202020204" pitchFamily="34" charset="0"/>
              </a:rPr>
              <a:t>mobile users </a:t>
            </a:r>
            <a:r>
              <a:rPr lang="en-US" sz="1600" dirty="0">
                <a:latin typeface="Arial" panose="020B0604020202020204" pitchFamily="34" charset="0"/>
                <a:cs typeface="Arial" panose="020B0604020202020204" pitchFamily="34" charset="0"/>
              </a:rPr>
              <a:t>(where any device other than a laptop is considered mobile).</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Due to the </a:t>
            </a:r>
            <a:r>
              <a:rPr lang="en-US" sz="1600" b="1" dirty="0">
                <a:latin typeface="Arial" panose="020B0604020202020204" pitchFamily="34" charset="0"/>
                <a:cs typeface="Arial" panose="020B0604020202020204" pitchFamily="34" charset="0"/>
              </a:rPr>
              <a:t>high cost </a:t>
            </a:r>
            <a:r>
              <a:rPr lang="en-US" sz="1600" dirty="0">
                <a:latin typeface="Arial" panose="020B0604020202020204" pitchFamily="34" charset="0"/>
                <a:cs typeface="Arial" panose="020B0604020202020204" pitchFamily="34" charset="0"/>
              </a:rPr>
              <a:t>of digital advertising, it's crucial that these models are built with a high degree of accuracy.</a:t>
            </a:r>
          </a:p>
          <a:p>
            <a:endParaRPr lang="en-US" dirty="0">
              <a:latin typeface="Arial" panose="020B0604020202020204" pitchFamily="34" charset="0"/>
              <a:cs typeface="Arial" panose="020B0604020202020204" pitchFamily="34" charset="0"/>
            </a:endParaRPr>
          </a:p>
          <a:p>
            <a:pPr marL="25400" indent="0">
              <a:buNone/>
            </a:pPr>
            <a:endParaRPr lang="en-IN" sz="24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403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175C2-0EDE-1C55-B79B-54DAFB8288A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CD53A96-4775-8E05-5C30-880F9E36695C}"/>
              </a:ext>
            </a:extLst>
          </p:cNvPr>
          <p:cNvSpPr/>
          <p:nvPr/>
        </p:nvSpPr>
        <p:spPr>
          <a:xfrm>
            <a:off x="277906" y="917294"/>
            <a:ext cx="10482033"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Business Problem Understanding </a:t>
            </a:r>
            <a:r>
              <a:rPr lang="en-US" sz="1400" b="1" dirty="0">
                <a:solidFill>
                  <a:srgbClr val="0070C0"/>
                </a:solidFill>
                <a:latin typeface="Arial" panose="020B0604020202020204" pitchFamily="34" charset="0"/>
                <a:cs typeface="Arial" panose="020B0604020202020204" pitchFamily="34" charset="0"/>
              </a:rPr>
              <a:t>(contd.) </a:t>
            </a:r>
          </a:p>
        </p:txBody>
      </p:sp>
      <p:sp>
        <p:nvSpPr>
          <p:cNvPr id="7" name="TextBox 6">
            <a:extLst>
              <a:ext uri="{FF2B5EF4-FFF2-40B4-BE49-F238E27FC236}">
                <a16:creationId xmlns:a16="http://schemas.microsoft.com/office/drawing/2014/main" id="{BB03E2D8-29BD-94B0-C6BD-7DFE7B8825C0}"/>
              </a:ext>
            </a:extLst>
          </p:cNvPr>
          <p:cNvSpPr txBox="1"/>
          <p:nvPr/>
        </p:nvSpPr>
        <p:spPr>
          <a:xfrm>
            <a:off x="71718" y="1549869"/>
            <a:ext cx="11035554" cy="6401753"/>
          </a:xfrm>
          <a:prstGeom prst="rect">
            <a:avLst/>
          </a:prstGeom>
          <a:noFill/>
        </p:spPr>
        <p:txBody>
          <a:bodyPr wrap="square" rtlCol="0">
            <a:spAutoFit/>
          </a:bodyPr>
          <a:lstStyle/>
          <a:p>
            <a:pPr>
              <a:buNone/>
            </a:pPr>
            <a:br>
              <a:rPr lang="en-IN" sz="2400" dirty="0">
                <a:solidFill>
                  <a:srgbClr val="002060"/>
                </a:solidFill>
                <a:latin typeface="Arial" panose="020B0604020202020204" pitchFamily="34" charset="0"/>
                <a:cs typeface="Arial" panose="020B0604020202020204" pitchFamily="34" charset="0"/>
              </a:rPr>
            </a:br>
            <a:r>
              <a:rPr lang="en-IN" sz="2400" dirty="0">
                <a:solidFill>
                  <a:srgbClr val="002060"/>
                </a:solidFill>
                <a:latin typeface="Arial" panose="020B0604020202020204" pitchFamily="34" charset="0"/>
                <a:cs typeface="Arial" panose="020B0604020202020204" pitchFamily="34" charset="0"/>
              </a:rPr>
              <a:t>Need of Study / Project </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This project will enable the aviation company to gain </a:t>
            </a:r>
            <a:r>
              <a:rPr lang="en-US" sz="1600" b="1" dirty="0">
                <a:latin typeface="Arial" panose="020B0604020202020204" pitchFamily="34" charset="0"/>
                <a:cs typeface="Arial" panose="020B0604020202020204" pitchFamily="34" charset="0"/>
              </a:rPr>
              <a:t>deeper insights </a:t>
            </a:r>
            <a:r>
              <a:rPr lang="en-US" sz="1600" dirty="0">
                <a:latin typeface="Arial" panose="020B0604020202020204" pitchFamily="34" charset="0"/>
                <a:cs typeface="Arial" panose="020B0604020202020204" pitchFamily="34" charset="0"/>
              </a:rPr>
              <a:t>into its customers, allowing it to better meet their expectations.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Targeted advertising not only contributes to increased revenue but also enhances </a:t>
            </a:r>
            <a:r>
              <a:rPr lang="en-US" sz="1600" b="1" dirty="0">
                <a:latin typeface="Arial" panose="020B0604020202020204" pitchFamily="34" charset="0"/>
                <a:cs typeface="Arial" panose="020B0604020202020204" pitchFamily="34" charset="0"/>
              </a:rPr>
              <a:t>customer satisfaction </a:t>
            </a:r>
            <a:r>
              <a:rPr lang="en-US" sz="1600" dirty="0">
                <a:latin typeface="Arial" panose="020B0604020202020204" pitchFamily="34" charset="0"/>
                <a:cs typeface="Arial" panose="020B0604020202020204" pitchFamily="34" charset="0"/>
              </a:rPr>
              <a:t>by addressing individual needs.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Additionally, customized tour packages can be designed and offered to specific customer segments.</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r>
              <a:rPr lang="en-IN" sz="2400" dirty="0">
                <a:solidFill>
                  <a:srgbClr val="002060"/>
                </a:solidFill>
                <a:latin typeface="Arial" panose="020B0604020202020204" pitchFamily="34" charset="0"/>
                <a:cs typeface="Arial" panose="020B0604020202020204" pitchFamily="34" charset="0"/>
              </a:rPr>
              <a:t>Understanding business/social opportunity</a:t>
            </a:r>
            <a:endParaRPr lang="en-US" sz="2400" dirty="0">
              <a:solidFill>
                <a:srgbClr val="002060"/>
              </a:solidFill>
              <a:latin typeface="Arial" panose="020B0604020202020204" pitchFamily="34" charset="0"/>
              <a:cs typeface="Arial" panose="020B0604020202020204" pitchFamily="34" charset="0"/>
            </a:endParaRPr>
          </a:p>
          <a:p>
            <a:pPr>
              <a:buNone/>
            </a:pPr>
            <a:br>
              <a:rPr lang="en-IN" sz="2400" dirty="0">
                <a:solidFill>
                  <a:srgbClr val="002060"/>
                </a:solidFill>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business opportunity lies in the ability to </a:t>
            </a:r>
            <a:r>
              <a:rPr lang="en-US" sz="1600" b="1" dirty="0">
                <a:latin typeface="Arial" panose="020B0604020202020204" pitchFamily="34" charset="0"/>
                <a:cs typeface="Arial" panose="020B0604020202020204" pitchFamily="34" charset="0"/>
              </a:rPr>
              <a:t>focus on targeted audiences </a:t>
            </a:r>
            <a:r>
              <a:rPr lang="en-US" sz="1600" dirty="0">
                <a:latin typeface="Arial" panose="020B0604020202020204" pitchFamily="34" charset="0"/>
                <a:cs typeface="Arial" panose="020B0604020202020204" pitchFamily="34" charset="0"/>
              </a:rPr>
              <a:t>more effectively.</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Over time, this targeted approach is expected to </a:t>
            </a:r>
            <a:r>
              <a:rPr lang="en-US" sz="1600" b="1" dirty="0">
                <a:latin typeface="Arial" panose="020B0604020202020204" pitchFamily="34" charset="0"/>
                <a:cs typeface="Arial" panose="020B0604020202020204" pitchFamily="34" charset="0"/>
              </a:rPr>
              <a:t>boost revenue</a:t>
            </a:r>
            <a:r>
              <a:rPr lang="en-US" sz="1600" dirty="0">
                <a:latin typeface="Arial" panose="020B0604020202020204" pitchFamily="34" charset="0"/>
                <a:cs typeface="Arial" panose="020B0604020202020204" pitchFamily="34" charset="0"/>
              </a:rPr>
              <a:t>, which in turn can drive business growth and expansion. As the company grows, it will create more </a:t>
            </a:r>
            <a:r>
              <a:rPr lang="en-US" sz="1600" b="1" dirty="0">
                <a:latin typeface="Arial" panose="020B0604020202020204" pitchFamily="34" charset="0"/>
                <a:cs typeface="Arial" panose="020B0604020202020204" pitchFamily="34" charset="0"/>
              </a:rPr>
              <a:t>employment opportunities</a:t>
            </a:r>
            <a:r>
              <a:rPr lang="en-US" sz="1600" dirty="0">
                <a:latin typeface="Arial" panose="020B0604020202020204" pitchFamily="34" charset="0"/>
                <a:cs typeface="Arial" panose="020B0604020202020204" pitchFamily="34" charset="0"/>
              </a:rPr>
              <a:t>, representing a significant social benefit of this project.</a:t>
            </a:r>
          </a:p>
          <a:p>
            <a:pPr>
              <a:buNone/>
            </a:pPr>
            <a:br>
              <a:rPr lang="en-IN" sz="2400" dirty="0">
                <a:solidFill>
                  <a:srgbClr val="002060"/>
                </a:solidFill>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marL="25400" indent="0">
              <a:buNone/>
            </a:pPr>
            <a:endParaRPr lang="en-IN" sz="24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5304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02C64F-B802-E343-B318-70D330A9A3FE}"/>
              </a:ext>
            </a:extLst>
          </p:cNvPr>
          <p:cNvSpPr/>
          <p:nvPr/>
        </p:nvSpPr>
        <p:spPr>
          <a:xfrm>
            <a:off x="1537568" y="917294"/>
            <a:ext cx="9116863"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Modelling Approach Used &amp; Why</a:t>
            </a:r>
          </a:p>
        </p:txBody>
      </p:sp>
      <p:sp>
        <p:nvSpPr>
          <p:cNvPr id="7" name="TextBox 6">
            <a:extLst>
              <a:ext uri="{FF2B5EF4-FFF2-40B4-BE49-F238E27FC236}">
                <a16:creationId xmlns:a16="http://schemas.microsoft.com/office/drawing/2014/main" id="{A84B8933-F44C-374A-B677-D79AD8184284}"/>
              </a:ext>
            </a:extLst>
          </p:cNvPr>
          <p:cNvSpPr txBox="1"/>
          <p:nvPr/>
        </p:nvSpPr>
        <p:spPr>
          <a:xfrm>
            <a:off x="80682" y="1773986"/>
            <a:ext cx="10892118" cy="4339650"/>
          </a:xfrm>
          <a:prstGeom prst="rect">
            <a:avLst/>
          </a:prstGeom>
          <a:noFill/>
        </p:spPr>
        <p:txBody>
          <a:bodyPr wrap="square" rtlCol="0">
            <a:spAutoFit/>
          </a:bodyPr>
          <a:lstStyle/>
          <a:p>
            <a:r>
              <a:rPr lang="en-IN" sz="2400" dirty="0">
                <a:solidFill>
                  <a:srgbClr val="002060"/>
                </a:solidFill>
                <a:latin typeface="Arial" panose="020B0604020202020204" pitchFamily="34" charset="0"/>
                <a:cs typeface="Arial" panose="020B0604020202020204" pitchFamily="34" charset="0"/>
              </a:rPr>
              <a:t>Understanding of attributes</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The dataset contains </a:t>
            </a:r>
            <a:r>
              <a:rPr lang="en-US" sz="1600" b="1" dirty="0">
                <a:latin typeface="Arial" panose="020B0604020202020204" pitchFamily="34" charset="0"/>
                <a:cs typeface="Arial" panose="020B0604020202020204" pitchFamily="34" charset="0"/>
              </a:rPr>
              <a:t>17 variables</a:t>
            </a:r>
            <a:r>
              <a:rPr lang="en-US" sz="1600" dirty="0">
                <a:latin typeface="Arial" panose="020B0604020202020204" pitchFamily="34" charset="0"/>
                <a:cs typeface="Arial" panose="020B0604020202020204" pitchFamily="34" charset="0"/>
              </a:rPr>
              <a:t>: 3 of type </a:t>
            </a:r>
            <a:r>
              <a:rPr lang="en-US" sz="1600" i="1" dirty="0">
                <a:latin typeface="Arial" panose="020B0604020202020204" pitchFamily="34" charset="0"/>
                <a:cs typeface="Arial" panose="020B0604020202020204" pitchFamily="34" charset="0"/>
              </a:rPr>
              <a:t>float</a:t>
            </a:r>
            <a:r>
              <a:rPr lang="en-US" sz="1600" dirty="0">
                <a:latin typeface="Arial" panose="020B0604020202020204" pitchFamily="34" charset="0"/>
                <a:cs typeface="Arial" panose="020B0604020202020204" pitchFamily="34" charset="0"/>
              </a:rPr>
              <a:t>, 7 of type </a:t>
            </a:r>
            <a:r>
              <a:rPr lang="en-US" sz="1600" i="1" dirty="0">
                <a:latin typeface="Arial" panose="020B0604020202020204" pitchFamily="34" charset="0"/>
                <a:cs typeface="Arial" panose="020B0604020202020204" pitchFamily="34" charset="0"/>
              </a:rPr>
              <a:t>integer</a:t>
            </a:r>
            <a:r>
              <a:rPr lang="en-US" sz="1600" dirty="0">
                <a:latin typeface="Arial" panose="020B0604020202020204" pitchFamily="34" charset="0"/>
                <a:cs typeface="Arial" panose="020B0604020202020204" pitchFamily="34" charset="0"/>
              </a:rPr>
              <a:t>, and 7 of type </a:t>
            </a:r>
            <a:r>
              <a:rPr lang="en-US" sz="1600" i="1" dirty="0">
                <a:latin typeface="Arial" panose="020B0604020202020204" pitchFamily="34" charset="0"/>
                <a:cs typeface="Arial" panose="020B0604020202020204" pitchFamily="34" charset="0"/>
              </a:rPr>
              <a:t>object</a:t>
            </a:r>
            <a:r>
              <a:rPr lang="en-US" sz="1600" dirty="0">
                <a:latin typeface="Arial" panose="020B0604020202020204" pitchFamily="34" charset="0"/>
                <a:cs typeface="Arial" panose="020B0604020202020204" pitchFamily="34" charset="0"/>
              </a:rPr>
              <a:t>. It includes data for </a:t>
            </a:r>
            <a:r>
              <a:rPr lang="en-US" sz="1600" b="1" dirty="0">
                <a:latin typeface="Arial" panose="020B0604020202020204" pitchFamily="34" charset="0"/>
                <a:cs typeface="Arial" panose="020B0604020202020204" pitchFamily="34" charset="0"/>
              </a:rPr>
              <a:t>11,760 individuals</a:t>
            </a:r>
            <a:r>
              <a:rPr lang="en-US" sz="1600" dirty="0">
                <a:latin typeface="Arial" panose="020B0604020202020204" pitchFamily="34" charset="0"/>
                <a:cs typeface="Arial" panose="020B0604020202020204" pitchFamily="34" charset="0"/>
              </a:rPr>
              <a:t>.</a:t>
            </a:r>
            <a:br>
              <a:rPr lang="en-US" dirty="0"/>
            </a:br>
            <a:br>
              <a:rPr lang="en-IN" sz="2400" dirty="0">
                <a:solidFill>
                  <a:srgbClr val="002060"/>
                </a:solidFill>
                <a:latin typeface="Arial" panose="020B0604020202020204" pitchFamily="34" charset="0"/>
                <a:cs typeface="Arial" panose="020B0604020202020204" pitchFamily="34" charset="0"/>
              </a:rPr>
            </a:br>
            <a:r>
              <a:rPr lang="en-IN" sz="2400" dirty="0">
                <a:solidFill>
                  <a:srgbClr val="002060"/>
                </a:solidFill>
                <a:latin typeface="Arial" panose="020B0604020202020204" pitchFamily="34" charset="0"/>
                <a:cs typeface="Arial" panose="020B0604020202020204" pitchFamily="34" charset="0"/>
              </a:rPr>
              <a:t>Univariate Analysis </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US" sz="1600" dirty="0">
                <a:latin typeface="Arial" panose="020B0604020202020204" pitchFamily="34" charset="0"/>
                <a:cs typeface="Arial" panose="020B0604020202020204" pitchFamily="34" charset="0"/>
              </a:rPr>
              <a:t>All numerical variables show </a:t>
            </a:r>
            <a:r>
              <a:rPr lang="en-US" sz="1600" b="1" dirty="0">
                <a:latin typeface="Arial" panose="020B0604020202020204" pitchFamily="34" charset="0"/>
                <a:cs typeface="Arial" panose="020B0604020202020204" pitchFamily="34" charset="0"/>
              </a:rPr>
              <a:t>skewness</a:t>
            </a:r>
            <a:r>
              <a:rPr lang="en-US" sz="1600" dirty="0">
                <a:latin typeface="Arial" panose="020B0604020202020204" pitchFamily="34" charset="0"/>
                <a:cs typeface="Arial" panose="020B0604020202020204" pitchFamily="34" charset="0"/>
              </a:rPr>
              <a:t>. Count plot reveals that </a:t>
            </a:r>
            <a:r>
              <a:rPr lang="en-US" sz="1600" b="1" dirty="0">
                <a:latin typeface="Arial" panose="020B0604020202020204" pitchFamily="34" charset="0"/>
                <a:cs typeface="Arial" panose="020B0604020202020204" pitchFamily="34" charset="0"/>
              </a:rPr>
              <a:t>most users prefer Mobile </a:t>
            </a:r>
            <a:r>
              <a:rPr lang="en-US" sz="1600" dirty="0">
                <a:latin typeface="Arial" panose="020B0604020202020204" pitchFamily="34" charset="0"/>
                <a:cs typeface="Arial" panose="020B0604020202020204" pitchFamily="34" charset="0"/>
              </a:rPr>
              <a:t>as their device.</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IN" sz="2400" dirty="0">
                <a:solidFill>
                  <a:srgbClr val="002060"/>
                </a:solidFill>
                <a:latin typeface="Arial" panose="020B0604020202020204" pitchFamily="34" charset="0"/>
                <a:cs typeface="Arial" panose="020B0604020202020204" pitchFamily="34" charset="0"/>
              </a:rPr>
              <a:t>Bivariate and Multivariate Analysis</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US" sz="1600" dirty="0" err="1">
                <a:latin typeface="Arial" panose="020B0604020202020204" pitchFamily="34" charset="0"/>
                <a:cs typeface="Arial" panose="020B0604020202020204" pitchFamily="34" charset="0"/>
              </a:rPr>
              <a:t>Pairplot</a:t>
            </a:r>
            <a:r>
              <a:rPr lang="en-US" sz="1600" dirty="0">
                <a:latin typeface="Arial" panose="020B0604020202020204" pitchFamily="34" charset="0"/>
                <a:cs typeface="Arial" panose="020B0604020202020204" pitchFamily="34" charset="0"/>
              </a:rPr>
              <a:t> and heatmaps show </a:t>
            </a:r>
            <a:r>
              <a:rPr lang="en-US" sz="1600" b="1" dirty="0">
                <a:latin typeface="Arial" panose="020B0604020202020204" pitchFamily="34" charset="0"/>
                <a:cs typeface="Arial" panose="020B0604020202020204" pitchFamily="34" charset="0"/>
              </a:rPr>
              <a:t>minimal correlation </a:t>
            </a:r>
            <a:r>
              <a:rPr lang="en-US" sz="1600" dirty="0">
                <a:latin typeface="Arial" panose="020B0604020202020204" pitchFamily="34" charset="0"/>
                <a:cs typeface="Arial" panose="020B0604020202020204" pitchFamily="34" charset="0"/>
              </a:rPr>
              <a:t>among numerical features. Boxplot indicates that </a:t>
            </a:r>
            <a:r>
              <a:rPr lang="en-US" sz="1600" b="1" dirty="0">
                <a:latin typeface="Arial" panose="020B0604020202020204" pitchFamily="34" charset="0"/>
                <a:cs typeface="Arial" panose="020B0604020202020204" pitchFamily="34" charset="0"/>
              </a:rPr>
              <a:t>Mobile and Laptop users have similar medians </a:t>
            </a:r>
            <a:r>
              <a:rPr lang="en-US" sz="1600" dirty="0">
                <a:latin typeface="Arial" panose="020B0604020202020204" pitchFamily="34" charset="0"/>
                <a:cs typeface="Arial" panose="020B0604020202020204" pitchFamily="34" charset="0"/>
              </a:rPr>
              <a:t>for product uptake.</a:t>
            </a:r>
            <a:endParaRPr lang="en-IN" sz="1600" dirty="0">
              <a:solidFill>
                <a:srgbClr val="002060"/>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BF277A7B-E5CC-8D42-B702-381586A72771}"/>
              </a:ext>
            </a:extLst>
          </p:cNvPr>
          <p:cNvSpPr txBox="1"/>
          <p:nvPr/>
        </p:nvSpPr>
        <p:spPr>
          <a:xfrm>
            <a:off x="7044315" y="2973773"/>
            <a:ext cx="3507143" cy="338554"/>
          </a:xfrm>
          <a:prstGeom prst="rect">
            <a:avLst/>
          </a:prstGeom>
          <a:noFill/>
        </p:spPr>
        <p:txBody>
          <a:bodyPr wrap="square" rtlCol="0">
            <a:spAutoFit/>
          </a:bodyPr>
          <a:lstStyle/>
          <a:p>
            <a:pPr algn="ctr">
              <a:buClr>
                <a:srgbClr val="0070C0"/>
              </a:buClr>
            </a:pPr>
            <a:r>
              <a:rPr lang="en-IN" sz="1600"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532695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6CFA-38F8-51C7-7AF3-483D15CA675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0C1DA2F-D03B-7A08-934D-978834690A85}"/>
              </a:ext>
            </a:extLst>
          </p:cNvPr>
          <p:cNvSpPr/>
          <p:nvPr/>
        </p:nvSpPr>
        <p:spPr>
          <a:xfrm>
            <a:off x="1030940" y="917294"/>
            <a:ext cx="9941859"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Modelling Approach Used &amp; Why </a:t>
            </a:r>
            <a:r>
              <a:rPr lang="en-US" sz="1400" b="1" dirty="0">
                <a:solidFill>
                  <a:srgbClr val="0070C0"/>
                </a:solidFill>
                <a:latin typeface="Arial" panose="020B0604020202020204" pitchFamily="34" charset="0"/>
                <a:cs typeface="Arial" panose="020B0604020202020204" pitchFamily="34" charset="0"/>
              </a:rPr>
              <a:t>(contd.) </a:t>
            </a:r>
          </a:p>
        </p:txBody>
      </p:sp>
      <p:sp>
        <p:nvSpPr>
          <p:cNvPr id="7" name="TextBox 6">
            <a:extLst>
              <a:ext uri="{FF2B5EF4-FFF2-40B4-BE49-F238E27FC236}">
                <a16:creationId xmlns:a16="http://schemas.microsoft.com/office/drawing/2014/main" id="{85B614B8-019B-10C8-C302-BC6566491E7E}"/>
              </a:ext>
            </a:extLst>
          </p:cNvPr>
          <p:cNvSpPr txBox="1"/>
          <p:nvPr/>
        </p:nvSpPr>
        <p:spPr>
          <a:xfrm>
            <a:off x="80682" y="1773986"/>
            <a:ext cx="10892118" cy="4278094"/>
          </a:xfrm>
          <a:prstGeom prst="rect">
            <a:avLst/>
          </a:prstGeom>
          <a:noFill/>
        </p:spPr>
        <p:txBody>
          <a:bodyPr wrap="square" rtlCol="0">
            <a:spAutoFit/>
          </a:bodyPr>
          <a:lstStyle/>
          <a:p>
            <a:pPr>
              <a:buNone/>
            </a:pPr>
            <a:r>
              <a:rPr lang="en-US" sz="2400" dirty="0">
                <a:solidFill>
                  <a:srgbClr val="002060"/>
                </a:solidFill>
                <a:latin typeface="Arial" panose="020B0604020202020204" pitchFamily="34" charset="0"/>
                <a:cs typeface="Arial" panose="020B0604020202020204" pitchFamily="34" charset="0"/>
              </a:rPr>
              <a:t>Metric considered for this project</a:t>
            </a:r>
            <a:br>
              <a:rPr lang="en-IN" sz="2400" dirty="0">
                <a:solidFill>
                  <a:srgbClr val="002060"/>
                </a:solidFill>
                <a:latin typeface="Arial" panose="020B0604020202020204" pitchFamily="34" charset="0"/>
                <a:cs typeface="Arial" panose="020B0604020202020204" pitchFamily="34" charset="0"/>
              </a:rPr>
            </a:br>
            <a:br>
              <a:rPr lang="en-IN" sz="2400" dirty="0">
                <a:solidFill>
                  <a:srgbClr val="002060"/>
                </a:solidFill>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Precision</a:t>
            </a:r>
            <a:r>
              <a:rPr lang="en-US" sz="1600" dirty="0">
                <a:latin typeface="Arial" panose="020B0604020202020204" pitchFamily="34" charset="0"/>
                <a:cs typeface="Arial" panose="020B0604020202020204" pitchFamily="34" charset="0"/>
              </a:rPr>
              <a:t> is the key metric to evaluate for this approach, as the cost of misidentifying the right client is higher than targeting an incorrect customer who may not purchase the product. Mis-targeting can result in losing potential clients, which is why precision is chosen as the primary criterion for this project.</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F1 score and recall were also considered. </a:t>
            </a:r>
            <a:r>
              <a:rPr lang="en-US" sz="1600" b="1" dirty="0">
                <a:latin typeface="Arial" panose="020B0604020202020204" pitchFamily="34" charset="0"/>
                <a:cs typeface="Arial" panose="020B0604020202020204" pitchFamily="34" charset="0"/>
              </a:rPr>
              <a:t>Recall</a:t>
            </a:r>
            <a:r>
              <a:rPr lang="en-US" sz="1600" dirty="0">
                <a:latin typeface="Arial" panose="020B0604020202020204" pitchFamily="34" charset="0"/>
                <a:cs typeface="Arial" panose="020B0604020202020204" pitchFamily="34" charset="0"/>
              </a:rPr>
              <a:t> measures the ratio of correctly identified positive samples to the total number of positive samples, reflecting the model's ability to detect positive outcomes. The higher the recall, the more positive samples are correctly identified.</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SMOTE</a:t>
            </a:r>
            <a:r>
              <a:rPr lang="en-US" sz="1600" dirty="0">
                <a:latin typeface="Arial" panose="020B0604020202020204" pitchFamily="34" charset="0"/>
                <a:cs typeface="Arial" panose="020B0604020202020204" pitchFamily="34" charset="0"/>
              </a:rPr>
              <a:t> was used to balance the minority class in the target variable, helping to build the Random Forest model.</a:t>
            </a:r>
            <a:r>
              <a:rPr lang="en-US" sz="1600" b="1" dirty="0"/>
              <a:t> </a:t>
            </a:r>
            <a:r>
              <a:rPr lang="en-US" sz="1600" dirty="0">
                <a:latin typeface="Arial" panose="020B0604020202020204" pitchFamily="34" charset="0"/>
                <a:cs typeface="Arial" panose="020B0604020202020204" pitchFamily="34" charset="0"/>
              </a:rPr>
              <a:t>SMOTE was </a:t>
            </a:r>
            <a:r>
              <a:rPr lang="en-US" sz="1600" b="1" dirty="0">
                <a:latin typeface="Arial" panose="020B0604020202020204" pitchFamily="34" charset="0"/>
                <a:cs typeface="Arial" panose="020B0604020202020204" pitchFamily="34" charset="0"/>
              </a:rPr>
              <a:t>applied only on the training data</a:t>
            </a:r>
            <a:r>
              <a:rPr lang="en-US" sz="1600" dirty="0">
                <a:latin typeface="Arial" panose="020B0604020202020204" pitchFamily="34" charset="0"/>
                <a:cs typeface="Arial" panose="020B0604020202020204" pitchFamily="34" charset="0"/>
              </a:rPr>
              <a:t>. This avoids data leakage and ensures realistic model performance evaluation.</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dataset was split into two subsets </a:t>
            </a:r>
            <a:r>
              <a:rPr lang="en-US" sz="1600" dirty="0">
                <a:latin typeface="Arial" panose="020B0604020202020204" pitchFamily="34" charset="0"/>
                <a:cs typeface="Arial" panose="020B0604020202020204" pitchFamily="34" charset="0"/>
              </a:rPr>
              <a:t>- one for mobile users and one for laptop users - and models were built separately for each. </a:t>
            </a:r>
            <a:endParaRPr lang="en-IN"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5437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E27EC-904C-D283-EF98-A4156EAAA1B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4D604B3-A571-73B7-7EDD-135594AF732B}"/>
              </a:ext>
            </a:extLst>
          </p:cNvPr>
          <p:cNvSpPr/>
          <p:nvPr/>
        </p:nvSpPr>
        <p:spPr>
          <a:xfrm>
            <a:off x="1147643" y="272315"/>
            <a:ext cx="9596596"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Modelling Approach Used &amp; Why </a:t>
            </a:r>
            <a:r>
              <a:rPr lang="en-US" sz="1400" b="1" dirty="0">
                <a:solidFill>
                  <a:srgbClr val="0070C0"/>
                </a:solidFill>
                <a:latin typeface="Arial" panose="020B0604020202020204" pitchFamily="34" charset="0"/>
                <a:cs typeface="Arial" panose="020B0604020202020204" pitchFamily="34" charset="0"/>
              </a:rPr>
              <a:t>(contd.) </a:t>
            </a:r>
            <a:r>
              <a:rPr lang="en-US" sz="4000" b="1" dirty="0">
                <a:solidFill>
                  <a:srgbClr val="0070C0"/>
                </a:solidFill>
                <a:latin typeface="Arial" panose="020B0604020202020204" pitchFamily="34" charset="0"/>
                <a:cs typeface="Arial" panose="020B0604020202020204" pitchFamily="34" charset="0"/>
              </a:rPr>
              <a:t> </a:t>
            </a:r>
          </a:p>
        </p:txBody>
      </p:sp>
      <p:graphicFrame>
        <p:nvGraphicFramePr>
          <p:cNvPr id="8" name="Table 7">
            <a:extLst>
              <a:ext uri="{FF2B5EF4-FFF2-40B4-BE49-F238E27FC236}">
                <a16:creationId xmlns:a16="http://schemas.microsoft.com/office/drawing/2014/main" id="{008BAAFF-958D-9F64-E5CE-DF84991CC4C4}"/>
              </a:ext>
            </a:extLst>
          </p:cNvPr>
          <p:cNvGraphicFramePr>
            <a:graphicFrameLocks noGrp="1"/>
          </p:cNvGraphicFramePr>
          <p:nvPr>
            <p:extLst>
              <p:ext uri="{D42A27DB-BD31-4B8C-83A1-F6EECF244321}">
                <p14:modId xmlns:p14="http://schemas.microsoft.com/office/powerpoint/2010/main" val="182748010"/>
              </p:ext>
            </p:extLst>
          </p:nvPr>
        </p:nvGraphicFramePr>
        <p:xfrm>
          <a:off x="933253" y="932650"/>
          <a:ext cx="9596598" cy="5875020"/>
        </p:xfrm>
        <a:graphic>
          <a:graphicData uri="http://schemas.openxmlformats.org/drawingml/2006/table">
            <a:tbl>
              <a:tblPr firstRow="1" bandRow="1">
                <a:tableStyleId>{7DF18680-E054-41AD-8BC1-D1AEF772440D}</a:tableStyleId>
              </a:tblPr>
              <a:tblGrid>
                <a:gridCol w="2539178">
                  <a:extLst>
                    <a:ext uri="{9D8B030D-6E8A-4147-A177-3AD203B41FA5}">
                      <a16:colId xmlns:a16="http://schemas.microsoft.com/office/drawing/2014/main" val="2076666708"/>
                    </a:ext>
                  </a:extLst>
                </a:gridCol>
                <a:gridCol w="818083">
                  <a:extLst>
                    <a:ext uri="{9D8B030D-6E8A-4147-A177-3AD203B41FA5}">
                      <a16:colId xmlns:a16="http://schemas.microsoft.com/office/drawing/2014/main" val="2147548140"/>
                    </a:ext>
                  </a:extLst>
                </a:gridCol>
                <a:gridCol w="936359">
                  <a:extLst>
                    <a:ext uri="{9D8B030D-6E8A-4147-A177-3AD203B41FA5}">
                      <a16:colId xmlns:a16="http://schemas.microsoft.com/office/drawing/2014/main" val="2330482514"/>
                    </a:ext>
                  </a:extLst>
                </a:gridCol>
                <a:gridCol w="935253">
                  <a:extLst>
                    <a:ext uri="{9D8B030D-6E8A-4147-A177-3AD203B41FA5}">
                      <a16:colId xmlns:a16="http://schemas.microsoft.com/office/drawing/2014/main" val="1991490983"/>
                    </a:ext>
                  </a:extLst>
                </a:gridCol>
                <a:gridCol w="930744">
                  <a:extLst>
                    <a:ext uri="{9D8B030D-6E8A-4147-A177-3AD203B41FA5}">
                      <a16:colId xmlns:a16="http://schemas.microsoft.com/office/drawing/2014/main" val="2437559636"/>
                    </a:ext>
                  </a:extLst>
                </a:gridCol>
                <a:gridCol w="997613">
                  <a:extLst>
                    <a:ext uri="{9D8B030D-6E8A-4147-A177-3AD203B41FA5}">
                      <a16:colId xmlns:a16="http://schemas.microsoft.com/office/drawing/2014/main" val="394523617"/>
                    </a:ext>
                  </a:extLst>
                </a:gridCol>
                <a:gridCol w="838833">
                  <a:extLst>
                    <a:ext uri="{9D8B030D-6E8A-4147-A177-3AD203B41FA5}">
                      <a16:colId xmlns:a16="http://schemas.microsoft.com/office/drawing/2014/main" val="1292341897"/>
                    </a:ext>
                  </a:extLst>
                </a:gridCol>
                <a:gridCol w="828908">
                  <a:extLst>
                    <a:ext uri="{9D8B030D-6E8A-4147-A177-3AD203B41FA5}">
                      <a16:colId xmlns:a16="http://schemas.microsoft.com/office/drawing/2014/main" val="128521612"/>
                    </a:ext>
                  </a:extLst>
                </a:gridCol>
                <a:gridCol w="771627">
                  <a:extLst>
                    <a:ext uri="{9D8B030D-6E8A-4147-A177-3AD203B41FA5}">
                      <a16:colId xmlns:a16="http://schemas.microsoft.com/office/drawing/2014/main" val="3428274160"/>
                    </a:ext>
                  </a:extLst>
                </a:gridCol>
              </a:tblGrid>
              <a:tr h="575225">
                <a:tc>
                  <a:txBody>
                    <a:bodyPr/>
                    <a:lstStyle/>
                    <a:p>
                      <a:pPr algn="ctr"/>
                      <a:r>
                        <a:rPr lang="en-IN" sz="1100" dirty="0">
                          <a:latin typeface="Arial" panose="020B0604020202020204" pitchFamily="34" charset="0"/>
                          <a:cs typeface="Arial" panose="020B0604020202020204" pitchFamily="34" charset="0"/>
                        </a:rPr>
                        <a:t>Models</a:t>
                      </a:r>
                    </a:p>
                  </a:txBody>
                  <a:tcPr/>
                </a:tc>
                <a:tc>
                  <a:txBody>
                    <a:bodyPr/>
                    <a:lstStyle/>
                    <a:p>
                      <a:pPr algn="ctr"/>
                      <a:r>
                        <a:rPr lang="en-IN" sz="1100" dirty="0">
                          <a:latin typeface="Arial" panose="020B0604020202020204" pitchFamily="34" charset="0"/>
                          <a:cs typeface="Arial" panose="020B0604020202020204" pitchFamily="34" charset="0"/>
                        </a:rPr>
                        <a:t>Precision-</a:t>
                      </a:r>
                    </a:p>
                    <a:p>
                      <a:pPr algn="ctr"/>
                      <a:r>
                        <a:rPr lang="en-IN" sz="1100" dirty="0">
                          <a:latin typeface="Arial" panose="020B0604020202020204" pitchFamily="34" charset="0"/>
                          <a:cs typeface="Arial" panose="020B0604020202020204" pitchFamily="34" charset="0"/>
                        </a:rPr>
                        <a:t>Laptop</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dirty="0">
                          <a:latin typeface="Arial" panose="020B0604020202020204" pitchFamily="34" charset="0"/>
                          <a:cs typeface="Arial" panose="020B0604020202020204" pitchFamily="34" charset="0"/>
                        </a:rPr>
                        <a:t>Precision-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dirty="0">
                          <a:latin typeface="Arial" panose="020B0604020202020204" pitchFamily="34" charset="0"/>
                          <a:cs typeface="Arial" panose="020B0604020202020204" pitchFamily="34" charset="0"/>
                        </a:rPr>
                        <a:t>Mobile</a:t>
                      </a:r>
                    </a:p>
                    <a:p>
                      <a:pPr algn="ctr"/>
                      <a:endParaRPr lang="en-IN" sz="1100" dirty="0">
                        <a:latin typeface="Arial" panose="020B0604020202020204" pitchFamily="34" charset="0"/>
                        <a:cs typeface="Arial" panose="020B0604020202020204" pitchFamily="34" charset="0"/>
                      </a:endParaRPr>
                    </a:p>
                  </a:txBody>
                  <a:tcPr/>
                </a:tc>
                <a:tc>
                  <a:txBody>
                    <a:bodyPr/>
                    <a:lstStyle/>
                    <a:p>
                      <a:pPr algn="ctr"/>
                      <a:r>
                        <a:rPr lang="en-IN" sz="1100" dirty="0">
                          <a:latin typeface="Arial" panose="020B0604020202020204" pitchFamily="34" charset="0"/>
                          <a:cs typeface="Arial" panose="020B0604020202020204" pitchFamily="34" charset="0"/>
                        </a:rPr>
                        <a:t>Accuracy-</a:t>
                      </a:r>
                    </a:p>
                    <a:p>
                      <a:pPr algn="ctr"/>
                      <a:r>
                        <a:rPr lang="en-IN" sz="1100" dirty="0">
                          <a:latin typeface="Arial" panose="020B0604020202020204" pitchFamily="34" charset="0"/>
                          <a:cs typeface="Arial" panose="020B0604020202020204" pitchFamily="34" charset="0"/>
                        </a:rPr>
                        <a:t>Laptop </a:t>
                      </a:r>
                    </a:p>
                  </a:txBody>
                  <a:tcPr/>
                </a:tc>
                <a:tc>
                  <a:txBody>
                    <a:bodyPr/>
                    <a:lstStyle/>
                    <a:p>
                      <a:pPr algn="ctr"/>
                      <a:r>
                        <a:rPr lang="en-IN" sz="1100" dirty="0">
                          <a:latin typeface="Arial" panose="020B0604020202020204" pitchFamily="34" charset="0"/>
                          <a:cs typeface="Arial" panose="020B0604020202020204" pitchFamily="34" charset="0"/>
                        </a:rPr>
                        <a:t>Accuracy-Mobile</a:t>
                      </a:r>
                    </a:p>
                  </a:txBody>
                  <a:tcPr/>
                </a:tc>
                <a:tc>
                  <a:txBody>
                    <a:bodyPr/>
                    <a:lstStyle/>
                    <a:p>
                      <a:pPr algn="ctr"/>
                      <a:r>
                        <a:rPr lang="en-IN" sz="1100" dirty="0">
                          <a:latin typeface="Arial" panose="020B0604020202020204" pitchFamily="34" charset="0"/>
                          <a:cs typeface="Arial" panose="020B0604020202020204" pitchFamily="34" charset="0"/>
                        </a:rPr>
                        <a:t>Recall-</a:t>
                      </a:r>
                    </a:p>
                    <a:p>
                      <a:pPr algn="ctr"/>
                      <a:r>
                        <a:rPr lang="en-IN" sz="1100" dirty="0">
                          <a:latin typeface="Arial" panose="020B0604020202020204" pitchFamily="34" charset="0"/>
                          <a:cs typeface="Arial" panose="020B0604020202020204" pitchFamily="34" charset="0"/>
                        </a:rPr>
                        <a:t>Laptop</a:t>
                      </a:r>
                    </a:p>
                  </a:txBody>
                  <a:tcPr/>
                </a:tc>
                <a:tc>
                  <a:txBody>
                    <a:bodyPr/>
                    <a:lstStyle/>
                    <a:p>
                      <a:pPr algn="ctr"/>
                      <a:r>
                        <a:rPr lang="en-IN" sz="1100" dirty="0">
                          <a:latin typeface="Arial" panose="020B0604020202020204" pitchFamily="34" charset="0"/>
                          <a:cs typeface="Arial" panose="020B0604020202020204" pitchFamily="34" charset="0"/>
                        </a:rPr>
                        <a:t>Recall-</a:t>
                      </a:r>
                    </a:p>
                    <a:p>
                      <a:pPr algn="ctr"/>
                      <a:r>
                        <a:rPr lang="en-IN" sz="1100" dirty="0">
                          <a:latin typeface="Arial" panose="020B0604020202020204" pitchFamily="34" charset="0"/>
                          <a:cs typeface="Arial" panose="020B0604020202020204" pitchFamily="34" charset="0"/>
                        </a:rPr>
                        <a:t>Mobile</a:t>
                      </a:r>
                    </a:p>
                  </a:txBody>
                  <a:tcPr/>
                </a:tc>
                <a:tc>
                  <a:txBody>
                    <a:bodyPr/>
                    <a:lstStyle/>
                    <a:p>
                      <a:pPr algn="ctr"/>
                      <a:r>
                        <a:rPr lang="en-IN" sz="1100" dirty="0">
                          <a:latin typeface="Arial" panose="020B0604020202020204" pitchFamily="34" charset="0"/>
                          <a:cs typeface="Arial" panose="020B0604020202020204" pitchFamily="34" charset="0"/>
                        </a:rPr>
                        <a:t>F1- </a:t>
                      </a:r>
                    </a:p>
                    <a:p>
                      <a:pPr algn="ctr"/>
                      <a:r>
                        <a:rPr lang="en-IN" sz="1100" dirty="0">
                          <a:latin typeface="Arial" panose="020B0604020202020204" pitchFamily="34" charset="0"/>
                          <a:cs typeface="Arial" panose="020B0604020202020204" pitchFamily="34" charset="0"/>
                        </a:rPr>
                        <a:t>Laptop </a:t>
                      </a:r>
                    </a:p>
                  </a:txBody>
                  <a:tcPr/>
                </a:tc>
                <a:tc>
                  <a:txBody>
                    <a:bodyPr/>
                    <a:lstStyle/>
                    <a:p>
                      <a:pPr algn="ctr"/>
                      <a:r>
                        <a:rPr lang="en-IN" sz="1100" dirty="0">
                          <a:latin typeface="Arial" panose="020B0604020202020204" pitchFamily="34" charset="0"/>
                          <a:cs typeface="Arial" panose="020B0604020202020204" pitchFamily="34" charset="0"/>
                        </a:rPr>
                        <a:t>F1- </a:t>
                      </a:r>
                    </a:p>
                    <a:p>
                      <a:pPr algn="ctr"/>
                      <a:r>
                        <a:rPr lang="en-IN" sz="1100" dirty="0">
                          <a:latin typeface="Arial" panose="020B0604020202020204" pitchFamily="34" charset="0"/>
                          <a:cs typeface="Arial" panose="020B0604020202020204" pitchFamily="34" charset="0"/>
                        </a:rPr>
                        <a:t>Mobile</a:t>
                      </a:r>
                    </a:p>
                  </a:txBody>
                  <a:tcPr/>
                </a:tc>
                <a:extLst>
                  <a:ext uri="{0D108BD9-81ED-4DB2-BD59-A6C34878D82A}">
                    <a16:rowId xmlns:a16="http://schemas.microsoft.com/office/drawing/2014/main" val="3867478514"/>
                  </a:ext>
                </a:extLst>
              </a:tr>
              <a:tr h="243365">
                <a:tc>
                  <a:txBody>
                    <a:bodyPr/>
                    <a:lstStyle/>
                    <a:p>
                      <a:r>
                        <a:rPr lang="en-IN" sz="1050" b="1" dirty="0">
                          <a:latin typeface="Arial" panose="020B0604020202020204" pitchFamily="34" charset="0"/>
                          <a:cs typeface="Arial" panose="020B0604020202020204" pitchFamily="34" charset="0"/>
                        </a:rPr>
                        <a:t>Cart </a:t>
                      </a:r>
                    </a:p>
                  </a:txBody>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0.88</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0.95</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0.93</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0.87</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0.87</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0.88</a:t>
                      </a:r>
                    </a:p>
                  </a:txBody>
                  <a:tcPr marL="68580" marR="68580" marT="0" marB="0"/>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0.91</a:t>
                      </a:r>
                    </a:p>
                  </a:txBody>
                  <a:tcPr marL="68580" marR="68580" marT="0" marB="0"/>
                </a:tc>
                <a:extLst>
                  <a:ext uri="{0D108BD9-81ED-4DB2-BD59-A6C34878D82A}">
                    <a16:rowId xmlns:a16="http://schemas.microsoft.com/office/drawing/2014/main" val="549011082"/>
                  </a:ext>
                </a:extLst>
              </a:tr>
              <a:tr h="243365">
                <a:tc>
                  <a:txBody>
                    <a:bodyPr/>
                    <a:lstStyle/>
                    <a:p>
                      <a:r>
                        <a:rPr lang="en-IN" sz="1050" b="1" dirty="0">
                          <a:latin typeface="Arial" panose="020B0604020202020204" pitchFamily="34" charset="0"/>
                          <a:cs typeface="Arial" panose="020B0604020202020204" pitchFamily="34" charset="0"/>
                        </a:rPr>
                        <a:t>Cart using pruning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0.75</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0.71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0.89</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0.46</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0.59</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0.55</a:t>
                      </a:r>
                    </a:p>
                  </a:txBody>
                  <a:tcPr marL="68580" marR="68580" marT="0" marB="0"/>
                </a:tc>
                <a:extLst>
                  <a:ext uri="{0D108BD9-81ED-4DB2-BD59-A6C34878D82A}">
                    <a16:rowId xmlns:a16="http://schemas.microsoft.com/office/drawing/2014/main" val="1377090162"/>
                  </a:ext>
                </a:extLst>
              </a:tr>
              <a:tr h="243365">
                <a:tc>
                  <a:txBody>
                    <a:bodyPr/>
                    <a:lstStyle/>
                    <a:p>
                      <a:r>
                        <a:rPr lang="en-IN" sz="1050" b="1" dirty="0">
                          <a:latin typeface="Arial" panose="020B0604020202020204" pitchFamily="34" charset="0"/>
                          <a:cs typeface="Arial" panose="020B0604020202020204" pitchFamily="34" charset="0"/>
                        </a:rPr>
                        <a:t>Smote</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0.75</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0.71</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0.81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0.89</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0.46</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0.59</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0.55</a:t>
                      </a:r>
                    </a:p>
                  </a:txBody>
                  <a:tcPr marL="68580" marR="68580" marT="0" marB="0"/>
                </a:tc>
                <a:extLst>
                  <a:ext uri="{0D108BD9-81ED-4DB2-BD59-A6C34878D82A}">
                    <a16:rowId xmlns:a16="http://schemas.microsoft.com/office/drawing/2014/main" val="698858474"/>
                  </a:ext>
                </a:extLst>
              </a:tr>
              <a:tr h="243365">
                <a:tc>
                  <a:txBody>
                    <a:bodyPr/>
                    <a:lstStyle/>
                    <a:p>
                      <a:r>
                        <a:rPr lang="en-IN" sz="1050" b="1" dirty="0">
                          <a:latin typeface="Arial" panose="020B0604020202020204" pitchFamily="34" charset="0"/>
                          <a:cs typeface="Arial" panose="020B0604020202020204" pitchFamily="34" charset="0"/>
                        </a:rPr>
                        <a:t>Logistic Regression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0.63</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0.00</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0.74</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0.85</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0.25</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0.00</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0.36</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0.00</a:t>
                      </a:r>
                    </a:p>
                  </a:txBody>
                  <a:tcPr marL="68580" marR="68580" marT="0" marB="0"/>
                </a:tc>
                <a:extLst>
                  <a:ext uri="{0D108BD9-81ED-4DB2-BD59-A6C34878D82A}">
                    <a16:rowId xmlns:a16="http://schemas.microsoft.com/office/drawing/2014/main" val="1330041790"/>
                  </a:ext>
                </a:extLst>
              </a:tr>
              <a:tr h="243365">
                <a:tc>
                  <a:txBody>
                    <a:bodyPr/>
                    <a:lstStyle/>
                    <a:p>
                      <a:r>
                        <a:rPr lang="en-IN" sz="1050" b="1" dirty="0">
                          <a:latin typeface="Arial" panose="020B0604020202020204" pitchFamily="34" charset="0"/>
                          <a:cs typeface="Arial" panose="020B0604020202020204" pitchFamily="34" charset="0"/>
                        </a:rPr>
                        <a:t>Linear Discriminant Analysis</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0.64</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0.81</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0.86</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0.44</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0.23</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0.57</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0.34</a:t>
                      </a:r>
                    </a:p>
                  </a:txBody>
                  <a:tcPr marL="68580" marR="68580" marT="0" marB="0"/>
                </a:tc>
                <a:extLst>
                  <a:ext uri="{0D108BD9-81ED-4DB2-BD59-A6C34878D82A}">
                    <a16:rowId xmlns:a16="http://schemas.microsoft.com/office/drawing/2014/main" val="998748677"/>
                  </a:ext>
                </a:extLst>
              </a:tr>
              <a:tr h="243365">
                <a:tc>
                  <a:txBody>
                    <a:bodyPr/>
                    <a:lstStyle/>
                    <a:p>
                      <a:r>
                        <a:rPr lang="en-IN" sz="1050" b="1" dirty="0">
                          <a:latin typeface="Arial" panose="020B0604020202020204" pitchFamily="34" charset="0"/>
                          <a:cs typeface="Arial" panose="020B0604020202020204" pitchFamily="34" charset="0"/>
                        </a:rPr>
                        <a:t>Random Forest </a:t>
                      </a:r>
                    </a:p>
                  </a:txBody>
                  <a:tcPr>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1.00</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1.00</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0.94</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0.86</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solidFill>
                      <a:schemeClr val="accent6">
                        <a:lumMod val="40000"/>
                        <a:lumOff val="60000"/>
                      </a:schemeClr>
                    </a:solidFill>
                  </a:tcPr>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0.92</a:t>
                      </a:r>
                    </a:p>
                  </a:txBody>
                  <a:tcPr marL="68580" marR="68580" marT="0" marB="0">
                    <a:solidFill>
                      <a:schemeClr val="accent6">
                        <a:lumMod val="40000"/>
                        <a:lumOff val="60000"/>
                      </a:schemeClr>
                    </a:solidFill>
                  </a:tcPr>
                </a:tc>
                <a:extLst>
                  <a:ext uri="{0D108BD9-81ED-4DB2-BD59-A6C34878D82A}">
                    <a16:rowId xmlns:a16="http://schemas.microsoft.com/office/drawing/2014/main" val="132210839"/>
                  </a:ext>
                </a:extLst>
              </a:tr>
              <a:tr h="243365">
                <a:tc>
                  <a:txBody>
                    <a:bodyPr/>
                    <a:lstStyle/>
                    <a:p>
                      <a:r>
                        <a:rPr lang="en-IN" sz="1050" b="1" dirty="0">
                          <a:latin typeface="Arial" panose="020B0604020202020204" pitchFamily="34" charset="0"/>
                          <a:cs typeface="Arial" panose="020B0604020202020204" pitchFamily="34" charset="0"/>
                        </a:rPr>
                        <a:t>KNN </a:t>
                      </a:r>
                    </a:p>
                  </a:txBody>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0.93</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0.95</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0.95</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0.92</a:t>
                      </a:r>
                    </a:p>
                  </a:txBody>
                  <a:tcPr marL="68580" marR="68580" marT="0" marB="0"/>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0.93</a:t>
                      </a:r>
                    </a:p>
                  </a:txBody>
                  <a:tcPr marL="68580" marR="68580" marT="0" marB="0"/>
                </a:tc>
                <a:extLst>
                  <a:ext uri="{0D108BD9-81ED-4DB2-BD59-A6C34878D82A}">
                    <a16:rowId xmlns:a16="http://schemas.microsoft.com/office/drawing/2014/main" val="2874248826"/>
                  </a:ext>
                </a:extLst>
              </a:tr>
              <a:tr h="243365">
                <a:tc>
                  <a:txBody>
                    <a:bodyPr/>
                    <a:lstStyle/>
                    <a:p>
                      <a:r>
                        <a:rPr lang="en-IN" sz="1050" b="1" dirty="0">
                          <a:latin typeface="Arial" panose="020B0604020202020204" pitchFamily="34" charset="0"/>
                          <a:cs typeface="Arial" panose="020B0604020202020204" pitchFamily="34" charset="0"/>
                        </a:rPr>
                        <a:t>Smote - Logistic Regression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0.47</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0.23</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0.79</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0.67</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0.59</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0.35</a:t>
                      </a:r>
                    </a:p>
                  </a:txBody>
                  <a:tcPr marL="68580" marR="68580" marT="0" marB="0"/>
                </a:tc>
                <a:extLst>
                  <a:ext uri="{0D108BD9-81ED-4DB2-BD59-A6C34878D82A}">
                    <a16:rowId xmlns:a16="http://schemas.microsoft.com/office/drawing/2014/main" val="318733401"/>
                  </a:ext>
                </a:extLst>
              </a:tr>
              <a:tr h="243365">
                <a:tc>
                  <a:txBody>
                    <a:bodyPr/>
                    <a:lstStyle/>
                    <a:p>
                      <a:r>
                        <a:rPr lang="en-IN" sz="1050" b="1" dirty="0">
                          <a:latin typeface="Arial" panose="020B0604020202020204" pitchFamily="34" charset="0"/>
                          <a:cs typeface="Arial" panose="020B0604020202020204" pitchFamily="34" charset="0"/>
                        </a:rPr>
                        <a:t>Smote - LDA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0.53</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0.32</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0.74</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0.72</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0.78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0.78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0.63</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0.46</a:t>
                      </a:r>
                    </a:p>
                  </a:txBody>
                  <a:tcPr marL="68580" marR="68580" marT="0" marB="0"/>
                </a:tc>
                <a:extLst>
                  <a:ext uri="{0D108BD9-81ED-4DB2-BD59-A6C34878D82A}">
                    <a16:rowId xmlns:a16="http://schemas.microsoft.com/office/drawing/2014/main" val="1708327335"/>
                  </a:ext>
                </a:extLst>
              </a:tr>
              <a:tr h="243365">
                <a:tc>
                  <a:txBody>
                    <a:bodyPr/>
                    <a:lstStyle/>
                    <a:p>
                      <a:r>
                        <a:rPr lang="en-IN" sz="1050" b="1" dirty="0">
                          <a:latin typeface="Arial" panose="020B0604020202020204" pitchFamily="34" charset="0"/>
                          <a:cs typeface="Arial" panose="020B0604020202020204" pitchFamily="34" charset="0"/>
                        </a:rPr>
                        <a:t>Smote - KNN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0.96</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0.94</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0.94</a:t>
                      </a:r>
                    </a:p>
                  </a:txBody>
                  <a:tcPr marL="68580" marR="68580" marT="0" marB="0"/>
                </a:tc>
                <a:extLst>
                  <a:ext uri="{0D108BD9-81ED-4DB2-BD59-A6C34878D82A}">
                    <a16:rowId xmlns:a16="http://schemas.microsoft.com/office/drawing/2014/main" val="2341890265"/>
                  </a:ext>
                </a:extLst>
              </a:tr>
              <a:tr h="243365">
                <a:tc>
                  <a:txBody>
                    <a:bodyPr/>
                    <a:lstStyle/>
                    <a:p>
                      <a:r>
                        <a:rPr lang="en-IN" sz="1050" b="1" dirty="0">
                          <a:latin typeface="Arial" panose="020B0604020202020204" pitchFamily="34" charset="0"/>
                          <a:cs typeface="Arial" panose="020B0604020202020204" pitchFamily="34" charset="0"/>
                        </a:rPr>
                        <a:t>Smote - RF </a:t>
                      </a:r>
                    </a:p>
                  </a:txBody>
                  <a:tcPr>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1.00</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0.94</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0.91</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solidFill>
                      <a:schemeClr val="accent6">
                        <a:lumMod val="40000"/>
                        <a:lumOff val="60000"/>
                      </a:schemeClr>
                    </a:solidFill>
                  </a:tcPr>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0.94</a:t>
                      </a:r>
                    </a:p>
                  </a:txBody>
                  <a:tcPr marL="68580" marR="68580" marT="0" marB="0">
                    <a:solidFill>
                      <a:schemeClr val="accent6">
                        <a:lumMod val="40000"/>
                        <a:lumOff val="60000"/>
                      </a:schemeClr>
                    </a:solidFill>
                  </a:tcPr>
                </a:tc>
                <a:extLst>
                  <a:ext uri="{0D108BD9-81ED-4DB2-BD59-A6C34878D82A}">
                    <a16:rowId xmlns:a16="http://schemas.microsoft.com/office/drawing/2014/main" val="1349359671"/>
                  </a:ext>
                </a:extLst>
              </a:tr>
              <a:tr h="243365">
                <a:tc>
                  <a:txBody>
                    <a:bodyPr/>
                    <a:lstStyle/>
                    <a:p>
                      <a:r>
                        <a:rPr lang="en-IN" sz="1050" b="1" dirty="0">
                          <a:latin typeface="Arial" panose="020B0604020202020204" pitchFamily="34" charset="0"/>
                          <a:cs typeface="Arial" panose="020B0604020202020204" pitchFamily="34" charset="0"/>
                        </a:rPr>
                        <a:t>Logistic Regression - </a:t>
                      </a:r>
                      <a:r>
                        <a:rPr lang="en-IN" sz="1050" b="1" dirty="0" err="1">
                          <a:latin typeface="Arial" panose="020B0604020202020204" pitchFamily="34" charset="0"/>
                          <a:cs typeface="Arial" panose="020B0604020202020204" pitchFamily="34" charset="0"/>
                        </a:rPr>
                        <a:t>GridSearch</a:t>
                      </a:r>
                      <a:r>
                        <a:rPr lang="en-IN" sz="1050" b="1" dirty="0">
                          <a:latin typeface="Arial" panose="020B0604020202020204" pitchFamily="34" charset="0"/>
                          <a:cs typeface="Arial" panose="020B0604020202020204" pitchFamily="34" charset="0"/>
                        </a:rPr>
                        <a:t> CV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0.73</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0.82</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0.87</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0.46</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0.21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0.59</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0.33</a:t>
                      </a:r>
                    </a:p>
                  </a:txBody>
                  <a:tcPr marL="68580" marR="68580" marT="0" marB="0"/>
                </a:tc>
                <a:extLst>
                  <a:ext uri="{0D108BD9-81ED-4DB2-BD59-A6C34878D82A}">
                    <a16:rowId xmlns:a16="http://schemas.microsoft.com/office/drawing/2014/main" val="323398106"/>
                  </a:ext>
                </a:extLst>
              </a:tr>
              <a:tr h="243365">
                <a:tc>
                  <a:txBody>
                    <a:bodyPr/>
                    <a:lstStyle/>
                    <a:p>
                      <a:r>
                        <a:rPr lang="en-IN" sz="1050" b="1" dirty="0">
                          <a:latin typeface="Arial" panose="020B0604020202020204" pitchFamily="34" charset="0"/>
                          <a:cs typeface="Arial" panose="020B0604020202020204" pitchFamily="34" charset="0"/>
                        </a:rPr>
                        <a:t>LDA - </a:t>
                      </a:r>
                      <a:r>
                        <a:rPr lang="en-IN" sz="1050" b="1" dirty="0" err="1">
                          <a:latin typeface="Arial" panose="020B0604020202020204" pitchFamily="34" charset="0"/>
                          <a:cs typeface="Arial" panose="020B0604020202020204" pitchFamily="34" charset="0"/>
                        </a:rPr>
                        <a:t>GridSearch</a:t>
                      </a:r>
                      <a:r>
                        <a:rPr lang="en-IN" sz="1050" b="1" dirty="0">
                          <a:latin typeface="Arial" panose="020B0604020202020204" pitchFamily="34" charset="0"/>
                          <a:cs typeface="Arial" panose="020B0604020202020204" pitchFamily="34" charset="0"/>
                        </a:rPr>
                        <a:t> CV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0.82</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0.65</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0.86</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0.44</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0.23</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0.58</a:t>
                      </a:r>
                    </a:p>
                  </a:txBody>
                  <a:tcPr marL="68580" marR="68580" marT="0" marB="0"/>
                </a:tc>
                <a:tc>
                  <a:txBody>
                    <a:bodyPr/>
                    <a:lstStyle/>
                    <a:p>
                      <a:pPr marL="288000">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0.34</a:t>
                      </a:r>
                    </a:p>
                  </a:txBody>
                  <a:tcPr marL="68580" marR="68580" marT="0" marB="0"/>
                </a:tc>
                <a:extLst>
                  <a:ext uri="{0D108BD9-81ED-4DB2-BD59-A6C34878D82A}">
                    <a16:rowId xmlns:a16="http://schemas.microsoft.com/office/drawing/2014/main" val="4142712198"/>
                  </a:ext>
                </a:extLst>
              </a:tr>
              <a:tr h="243365">
                <a:tc>
                  <a:txBody>
                    <a:bodyPr/>
                    <a:lstStyle/>
                    <a:p>
                      <a:r>
                        <a:rPr lang="en-IN" sz="1050" b="1" dirty="0">
                          <a:latin typeface="Arial" panose="020B0604020202020204" pitchFamily="34" charset="0"/>
                          <a:cs typeface="Arial" panose="020B0604020202020204" pitchFamily="34" charset="0"/>
                        </a:rPr>
                        <a:t>Random Forest - </a:t>
                      </a:r>
                      <a:r>
                        <a:rPr lang="en-IN" sz="1050" b="1" dirty="0" err="1">
                          <a:latin typeface="Arial" panose="020B0604020202020204" pitchFamily="34" charset="0"/>
                          <a:cs typeface="Arial" panose="020B0604020202020204" pitchFamily="34" charset="0"/>
                        </a:rPr>
                        <a:t>GridSearch</a:t>
                      </a:r>
                      <a:r>
                        <a:rPr lang="en-IN" sz="1050" b="1" dirty="0">
                          <a:latin typeface="Arial" panose="020B0604020202020204" pitchFamily="34" charset="0"/>
                          <a:cs typeface="Arial" panose="020B0604020202020204" pitchFamily="34" charset="0"/>
                        </a:rPr>
                        <a:t> CV</a:t>
                      </a:r>
                    </a:p>
                  </a:txBody>
                  <a:tcPr>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1.00</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1.00</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0.99</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0.94</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0.92</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solidFill>
                      <a:schemeClr val="accent6">
                        <a:lumMod val="40000"/>
                        <a:lumOff val="60000"/>
                      </a:schemeClr>
                    </a:solidFill>
                  </a:tcPr>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0.96</a:t>
                      </a:r>
                    </a:p>
                  </a:txBody>
                  <a:tcPr marL="68580" marR="68580" marT="0" marB="0">
                    <a:solidFill>
                      <a:schemeClr val="accent6">
                        <a:lumMod val="40000"/>
                        <a:lumOff val="60000"/>
                      </a:schemeClr>
                    </a:solidFill>
                  </a:tcPr>
                </a:tc>
                <a:extLst>
                  <a:ext uri="{0D108BD9-81ED-4DB2-BD59-A6C34878D82A}">
                    <a16:rowId xmlns:a16="http://schemas.microsoft.com/office/drawing/2014/main" val="3342114914"/>
                  </a:ext>
                </a:extLst>
              </a:tr>
              <a:tr h="243365">
                <a:tc>
                  <a:txBody>
                    <a:bodyPr/>
                    <a:lstStyle/>
                    <a:p>
                      <a:r>
                        <a:rPr lang="en-IN" sz="1050" b="1" dirty="0">
                          <a:latin typeface="Arial" panose="020B0604020202020204" pitchFamily="34" charset="0"/>
                          <a:cs typeface="Arial" panose="020B0604020202020204" pitchFamily="34" charset="0"/>
                        </a:rPr>
                        <a:t>Naive Bayes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0.65</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0.65</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0.81</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0.86</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0.73</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0.23</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0.69</a:t>
                      </a:r>
                    </a:p>
                  </a:txBody>
                  <a:tcPr marL="68580" marR="68580" marT="0" marB="0"/>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0.34</a:t>
                      </a:r>
                    </a:p>
                  </a:txBody>
                  <a:tcPr marL="68580" marR="68580" marT="0" marB="0"/>
                </a:tc>
                <a:extLst>
                  <a:ext uri="{0D108BD9-81ED-4DB2-BD59-A6C34878D82A}">
                    <a16:rowId xmlns:a16="http://schemas.microsoft.com/office/drawing/2014/main" val="3915932940"/>
                  </a:ext>
                </a:extLst>
              </a:tr>
              <a:tr h="243365">
                <a:tc>
                  <a:txBody>
                    <a:bodyPr/>
                    <a:lstStyle/>
                    <a:p>
                      <a:r>
                        <a:rPr lang="en-IN" sz="1050" b="1" dirty="0">
                          <a:latin typeface="Arial" panose="020B0604020202020204" pitchFamily="34" charset="0"/>
                          <a:cs typeface="Arial" panose="020B0604020202020204" pitchFamily="34" charset="0"/>
                        </a:rPr>
                        <a:t>Bagging </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0.99</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0.96</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0.89</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0.86</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0.93</a:t>
                      </a:r>
                    </a:p>
                  </a:txBody>
                  <a:tcPr marL="68580" marR="68580" marT="0" marB="0"/>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0.92</a:t>
                      </a:r>
                    </a:p>
                  </a:txBody>
                  <a:tcPr marL="68580" marR="68580" marT="0" marB="0"/>
                </a:tc>
                <a:extLst>
                  <a:ext uri="{0D108BD9-81ED-4DB2-BD59-A6C34878D82A}">
                    <a16:rowId xmlns:a16="http://schemas.microsoft.com/office/drawing/2014/main" val="991088764"/>
                  </a:ext>
                </a:extLst>
              </a:tr>
              <a:tr h="243365">
                <a:tc>
                  <a:txBody>
                    <a:bodyPr/>
                    <a:lstStyle/>
                    <a:p>
                      <a:r>
                        <a:rPr lang="en-IN" sz="1050" b="1">
                          <a:latin typeface="Arial" panose="020B0604020202020204" pitchFamily="34" charset="0"/>
                          <a:cs typeface="Arial" panose="020B0604020202020204" pitchFamily="34" charset="0"/>
                        </a:rPr>
                        <a:t>Bagging - GridSearch</a:t>
                      </a:r>
                      <a:r>
                        <a:rPr lang="en-IN" sz="1050" b="1" dirty="0">
                          <a:latin typeface="Arial" panose="020B0604020202020204" pitchFamily="34" charset="0"/>
                          <a:cs typeface="Arial" panose="020B0604020202020204" pitchFamily="34" charset="0"/>
                        </a:rPr>
                        <a:t> CV</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1.00</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0.93</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0.85</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0.86</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0.47</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0.11</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0.64</a:t>
                      </a:r>
                    </a:p>
                  </a:txBody>
                  <a:tcPr marL="68580" marR="68580" marT="0" marB="0"/>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0.19</a:t>
                      </a:r>
                    </a:p>
                  </a:txBody>
                  <a:tcPr marL="68580" marR="68580" marT="0" marB="0"/>
                </a:tc>
                <a:extLst>
                  <a:ext uri="{0D108BD9-81ED-4DB2-BD59-A6C34878D82A}">
                    <a16:rowId xmlns:a16="http://schemas.microsoft.com/office/drawing/2014/main" val="3745239989"/>
                  </a:ext>
                </a:extLst>
              </a:tr>
              <a:tr h="243365">
                <a:tc>
                  <a:txBody>
                    <a:bodyPr/>
                    <a:lstStyle/>
                    <a:p>
                      <a:r>
                        <a:rPr lang="en-IN" sz="1050" b="1" dirty="0">
                          <a:latin typeface="Arial" panose="020B0604020202020204" pitchFamily="34" charset="0"/>
                          <a:cs typeface="Arial" panose="020B0604020202020204" pitchFamily="34" charset="0"/>
                        </a:rPr>
                        <a:t>ADA Boosting</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0.79</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0.67</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0.86</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0.87</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0.69</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0.30</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0.74</a:t>
                      </a:r>
                    </a:p>
                  </a:txBody>
                  <a:tcPr marL="68580" marR="68580" marT="0" marB="0"/>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0.42</a:t>
                      </a:r>
                    </a:p>
                  </a:txBody>
                  <a:tcPr marL="68580" marR="68580" marT="0" marB="0"/>
                </a:tc>
                <a:extLst>
                  <a:ext uri="{0D108BD9-81ED-4DB2-BD59-A6C34878D82A}">
                    <a16:rowId xmlns:a16="http://schemas.microsoft.com/office/drawing/2014/main" val="1546901890"/>
                  </a:ext>
                </a:extLst>
              </a:tr>
              <a:tr h="243365">
                <a:tc>
                  <a:txBody>
                    <a:bodyPr/>
                    <a:lstStyle/>
                    <a:p>
                      <a:r>
                        <a:rPr lang="en-IN" sz="1050" b="1" dirty="0">
                          <a:latin typeface="Arial" panose="020B0604020202020204" pitchFamily="34" charset="0"/>
                          <a:cs typeface="Arial" panose="020B0604020202020204" pitchFamily="34" charset="0"/>
                        </a:rPr>
                        <a:t>Gradient Boosting</a:t>
                      </a:r>
                    </a:p>
                  </a:txBody>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0.89</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0.96</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0.90</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0.87</a:t>
                      </a:r>
                    </a:p>
                  </a:txBody>
                  <a:tcPr marL="68580" marR="68580" marT="0" marB="0"/>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0.42</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0.92</a:t>
                      </a:r>
                    </a:p>
                  </a:txBody>
                  <a:tcPr marL="68580" marR="68580" marT="0" marB="0"/>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0.57</a:t>
                      </a:r>
                    </a:p>
                  </a:txBody>
                  <a:tcPr marL="68580" marR="68580" marT="0" marB="0"/>
                </a:tc>
                <a:extLst>
                  <a:ext uri="{0D108BD9-81ED-4DB2-BD59-A6C34878D82A}">
                    <a16:rowId xmlns:a16="http://schemas.microsoft.com/office/drawing/2014/main" val="1934434518"/>
                  </a:ext>
                </a:extLst>
              </a:tr>
              <a:tr h="243365">
                <a:tc>
                  <a:txBody>
                    <a:bodyPr/>
                    <a:lstStyle/>
                    <a:p>
                      <a:r>
                        <a:rPr lang="en-IN" sz="1050" b="1" dirty="0">
                          <a:latin typeface="Arial" panose="020B0604020202020204" pitchFamily="34" charset="0"/>
                          <a:cs typeface="Arial" panose="020B0604020202020204" pitchFamily="34" charset="0"/>
                        </a:rPr>
                        <a:t>XG Boost </a:t>
                      </a:r>
                    </a:p>
                  </a:txBody>
                  <a:tcPr>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0.99</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0.99</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0.98</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0.99</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0.96</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a:effectLst/>
                          <a:latin typeface="Arial" panose="020B0604020202020204" pitchFamily="34" charset="0"/>
                          <a:ea typeface="Calibri" panose="020F0502020204030204" pitchFamily="34" charset="0"/>
                          <a:cs typeface="Arial" panose="020B0604020202020204" pitchFamily="34" charset="0"/>
                        </a:rPr>
                        <a:t>0.94</a:t>
                      </a:r>
                    </a:p>
                  </a:txBody>
                  <a:tcPr marL="68580" marR="68580" marT="0" marB="0">
                    <a:solidFill>
                      <a:schemeClr val="accent6">
                        <a:lumMod val="40000"/>
                        <a:lumOff val="60000"/>
                      </a:schemeClr>
                    </a:solidFill>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solidFill>
                      <a:schemeClr val="accent6">
                        <a:lumMod val="40000"/>
                        <a:lumOff val="60000"/>
                      </a:schemeClr>
                    </a:solidFill>
                  </a:tcPr>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0.96</a:t>
                      </a:r>
                    </a:p>
                  </a:txBody>
                  <a:tcPr marL="68580" marR="68580" marT="0" marB="0">
                    <a:solidFill>
                      <a:schemeClr val="accent6">
                        <a:lumMod val="40000"/>
                        <a:lumOff val="60000"/>
                      </a:schemeClr>
                    </a:solidFill>
                  </a:tcPr>
                </a:tc>
                <a:extLst>
                  <a:ext uri="{0D108BD9-81ED-4DB2-BD59-A6C34878D82A}">
                    <a16:rowId xmlns:a16="http://schemas.microsoft.com/office/drawing/2014/main" val="3207572122"/>
                  </a:ext>
                </a:extLst>
              </a:tr>
              <a:tr h="243365">
                <a:tc>
                  <a:txBody>
                    <a:bodyPr/>
                    <a:lstStyle/>
                    <a:p>
                      <a:r>
                        <a:rPr lang="en-IN" sz="1050" b="1" dirty="0">
                          <a:latin typeface="Arial" panose="020B0604020202020204" pitchFamily="34" charset="0"/>
                          <a:cs typeface="Arial" panose="020B0604020202020204" pitchFamily="34" charset="0"/>
                        </a:rPr>
                        <a:t>XG Boost Hyperparameter Tune </a:t>
                      </a:r>
                    </a:p>
                  </a:txBody>
                  <a:tcPr/>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0.99</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0.97</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0.92</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0.92</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0.52</a:t>
                      </a:r>
                    </a:p>
                  </a:txBody>
                  <a:tcPr marL="68580" marR="68580" marT="0" marB="0"/>
                </a:tc>
                <a:tc>
                  <a:txBody>
                    <a:bodyPr/>
                    <a:lstStyle/>
                    <a:p>
                      <a:pPr marL="288000" lvl="0" algn="just">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0.95</a:t>
                      </a:r>
                    </a:p>
                  </a:txBody>
                  <a:tcPr marL="68580" marR="68580" marT="0" marB="0"/>
                </a:tc>
                <a:tc>
                  <a:txBody>
                    <a:bodyPr/>
                    <a:lstStyle/>
                    <a:p>
                      <a:pPr marL="288000">
                        <a:lnSpc>
                          <a:spcPct val="115000"/>
                        </a:lnSpc>
                        <a:spcAft>
                          <a:spcPts val="800"/>
                        </a:spcAft>
                        <a:buNone/>
                      </a:pPr>
                      <a:r>
                        <a:rPr lang="en-IN" sz="1100" kern="100" dirty="0">
                          <a:effectLst/>
                          <a:latin typeface="Arial" panose="020B0604020202020204" pitchFamily="34" charset="0"/>
                          <a:ea typeface="Calibri" panose="020F0502020204030204" pitchFamily="34" charset="0"/>
                          <a:cs typeface="Arial" panose="020B0604020202020204" pitchFamily="34" charset="0"/>
                        </a:rPr>
                        <a:t>0.67</a:t>
                      </a:r>
                    </a:p>
                  </a:txBody>
                  <a:tcPr marL="68580" marR="68580" marT="0" marB="0"/>
                </a:tc>
                <a:extLst>
                  <a:ext uri="{0D108BD9-81ED-4DB2-BD59-A6C34878D82A}">
                    <a16:rowId xmlns:a16="http://schemas.microsoft.com/office/drawing/2014/main" val="3871116133"/>
                  </a:ext>
                </a:extLst>
              </a:tr>
            </a:tbl>
          </a:graphicData>
        </a:graphic>
      </p:graphicFrame>
    </p:spTree>
    <p:extLst>
      <p:ext uri="{BB962C8B-B14F-4D97-AF65-F5344CB8AC3E}">
        <p14:creationId xmlns:p14="http://schemas.microsoft.com/office/powerpoint/2010/main" val="136868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02C64F-B802-E343-B318-70D330A9A3FE}"/>
              </a:ext>
            </a:extLst>
          </p:cNvPr>
          <p:cNvSpPr/>
          <p:nvPr/>
        </p:nvSpPr>
        <p:spPr>
          <a:xfrm>
            <a:off x="757571" y="920188"/>
            <a:ext cx="10676857"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Insights from Analysis</a:t>
            </a:r>
          </a:p>
        </p:txBody>
      </p:sp>
      <p:sp>
        <p:nvSpPr>
          <p:cNvPr id="7" name="TextBox 6">
            <a:extLst>
              <a:ext uri="{FF2B5EF4-FFF2-40B4-BE49-F238E27FC236}">
                <a16:creationId xmlns:a16="http://schemas.microsoft.com/office/drawing/2014/main" id="{A84B8933-F44C-374A-B677-D79AD8184284}"/>
              </a:ext>
            </a:extLst>
          </p:cNvPr>
          <p:cNvSpPr txBox="1"/>
          <p:nvPr/>
        </p:nvSpPr>
        <p:spPr>
          <a:xfrm>
            <a:off x="71718" y="1773986"/>
            <a:ext cx="10901082" cy="4708981"/>
          </a:xfrm>
          <a:prstGeom prst="rect">
            <a:avLst/>
          </a:prstGeom>
          <a:noFill/>
        </p:spPr>
        <p:txBody>
          <a:bodyPr wrap="square" rtlCol="0">
            <a:spAutoFit/>
          </a:bodyPr>
          <a:lstStyle/>
          <a:p>
            <a:r>
              <a:rPr lang="en-IN" sz="2400" dirty="0">
                <a:solidFill>
                  <a:srgbClr val="002060"/>
                </a:solidFill>
                <a:latin typeface="Arial" panose="020B0604020202020204" pitchFamily="34" charset="0"/>
                <a:cs typeface="Arial" panose="020B0604020202020204" pitchFamily="34" charset="0"/>
              </a:rPr>
              <a:t>Insights from EDA</a:t>
            </a:r>
            <a:br>
              <a:rPr lang="en-IN" sz="2800" dirty="0">
                <a:solidFill>
                  <a:srgbClr val="002060"/>
                </a:solidFill>
              </a:rPr>
            </a:br>
            <a:endParaRPr lang="en-US" sz="1600" dirty="0">
              <a:solidFill>
                <a:srgbClr val="002060"/>
              </a:solidFill>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Customers with </a:t>
            </a:r>
            <a:r>
              <a:rPr lang="en-US" sz="1600" b="1" dirty="0">
                <a:latin typeface="Arial" panose="020B0604020202020204" pitchFamily="34" charset="0"/>
                <a:cs typeface="Arial" panose="020B0604020202020204" pitchFamily="34" charset="0"/>
              </a:rPr>
              <a:t>3 or 4 family members </a:t>
            </a:r>
            <a:r>
              <a:rPr lang="en-US" sz="1600" dirty="0">
                <a:latin typeface="Arial" panose="020B0604020202020204" pitchFamily="34" charset="0"/>
                <a:cs typeface="Arial" panose="020B0604020202020204" pitchFamily="34" charset="0"/>
              </a:rPr>
              <a:t>show a higher likelihood of taking trips, making them a key target group for better response rates.</a:t>
            </a:r>
          </a:p>
          <a:p>
            <a:pPr>
              <a:buNone/>
            </a:pP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Users selecting </a:t>
            </a:r>
            <a:r>
              <a:rPr lang="en-US" sz="1600" b="1" dirty="0">
                <a:latin typeface="Arial" panose="020B0604020202020204" pitchFamily="34" charset="0"/>
                <a:cs typeface="Arial" panose="020B0604020202020204" pitchFamily="34" charset="0"/>
              </a:rPr>
              <a:t>“beach” and “financial” </a:t>
            </a:r>
            <a:r>
              <a:rPr lang="en-US" sz="1600" dirty="0">
                <a:latin typeface="Arial" panose="020B0604020202020204" pitchFamily="34" charset="0"/>
                <a:cs typeface="Arial" panose="020B0604020202020204" pitchFamily="34" charset="0"/>
              </a:rPr>
              <a:t>as preferred locations make up the largest segment, suggesting an opportunity to create dedicated tour packages for these preferences.</a:t>
            </a:r>
          </a:p>
          <a:p>
            <a:pPr>
              <a:buNone/>
            </a:pP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High </a:t>
            </a:r>
            <a:r>
              <a:rPr lang="en-US" sz="1600" b="1" dirty="0">
                <a:latin typeface="Arial" panose="020B0604020202020204" pitchFamily="34" charset="0"/>
                <a:cs typeface="Arial" panose="020B0604020202020204" pitchFamily="34" charset="0"/>
              </a:rPr>
              <a:t>totals of likes and comments </a:t>
            </a:r>
            <a:r>
              <a:rPr lang="en-US" sz="1600" dirty="0">
                <a:latin typeface="Arial" panose="020B0604020202020204" pitchFamily="34" charset="0"/>
                <a:cs typeface="Arial" panose="020B0604020202020204" pitchFamily="34" charset="0"/>
              </a:rPr>
              <a:t>indicate active social media users, who should be prioritized as they are more likely to convert.</a:t>
            </a:r>
          </a:p>
          <a:p>
            <a:pPr>
              <a:buNone/>
            </a:pP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Data shows that both followers and non-followers of the company page have purchased the product, suggesting that this variable holds limited predictive value and </a:t>
            </a:r>
            <a:r>
              <a:rPr lang="en-US" sz="1600" b="1" dirty="0">
                <a:latin typeface="Arial" panose="020B0604020202020204" pitchFamily="34" charset="0"/>
                <a:cs typeface="Arial" panose="020B0604020202020204" pitchFamily="34" charset="0"/>
              </a:rPr>
              <a:t>focus should shift to more impactful features</a:t>
            </a:r>
            <a:r>
              <a:rPr lang="en-US" sz="1600" dirty="0">
                <a:latin typeface="Arial" panose="020B0604020202020204" pitchFamily="34" charset="0"/>
                <a:cs typeface="Arial" panose="020B0604020202020204" pitchFamily="34" charset="0"/>
              </a:rPr>
              <a:t>.</a:t>
            </a:r>
          </a:p>
          <a:p>
            <a:pPr>
              <a:buNone/>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Interestingly, </a:t>
            </a:r>
            <a:r>
              <a:rPr lang="en-US" sz="1600" b="1" dirty="0">
                <a:latin typeface="Arial" panose="020B0604020202020204" pitchFamily="34" charset="0"/>
                <a:cs typeface="Arial" panose="020B0604020202020204" pitchFamily="34" charset="0"/>
              </a:rPr>
              <a:t>non-working users have a higher </a:t>
            </a:r>
            <a:r>
              <a:rPr lang="en-US" sz="1600" dirty="0">
                <a:latin typeface="Arial" panose="020B0604020202020204" pitchFamily="34" charset="0"/>
                <a:cs typeface="Arial" panose="020B0604020202020204" pitchFamily="34" charset="0"/>
              </a:rPr>
              <a:t>conversion rate than working users, indicating that strategies could be tailored for young adults, students, or others not currently employed.</a:t>
            </a:r>
          </a:p>
          <a:p>
            <a:endParaRPr lang="en-IN" sz="1600" dirty="0">
              <a:solidFill>
                <a:srgbClr val="002060"/>
              </a:solidFill>
              <a:latin typeface="Arial" panose="020B0604020202020204" pitchFamily="34" charset="0"/>
              <a:cs typeface="Arial" panose="020B0604020202020204" pitchFamily="34" charset="0"/>
            </a:endParaRPr>
          </a:p>
          <a:p>
            <a:pPr>
              <a:buClr>
                <a:srgbClr val="0070C0"/>
              </a:buClr>
            </a:pPr>
            <a:r>
              <a:rPr lang="en-IN" sz="1600" dirty="0">
                <a:solidFill>
                  <a:srgbClr val="00206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073284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0C979-087B-20AE-7516-F03854FAB11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076F4C5-BD5D-AAC2-AD57-F8CCEBCADA58}"/>
              </a:ext>
            </a:extLst>
          </p:cNvPr>
          <p:cNvSpPr/>
          <p:nvPr/>
        </p:nvSpPr>
        <p:spPr>
          <a:xfrm>
            <a:off x="757571" y="920188"/>
            <a:ext cx="10676857"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Insights from Analysis </a:t>
            </a:r>
            <a:r>
              <a:rPr lang="en-US" sz="1400" b="1" dirty="0">
                <a:solidFill>
                  <a:srgbClr val="0070C0"/>
                </a:solidFill>
                <a:latin typeface="Arial" panose="020B0604020202020204" pitchFamily="34" charset="0"/>
                <a:cs typeface="Arial" panose="020B0604020202020204" pitchFamily="34" charset="0"/>
              </a:rPr>
              <a:t>(contd.) </a:t>
            </a:r>
          </a:p>
        </p:txBody>
      </p:sp>
      <p:sp>
        <p:nvSpPr>
          <p:cNvPr id="7" name="TextBox 6">
            <a:extLst>
              <a:ext uri="{FF2B5EF4-FFF2-40B4-BE49-F238E27FC236}">
                <a16:creationId xmlns:a16="http://schemas.microsoft.com/office/drawing/2014/main" id="{9CFF9146-F888-4630-185D-1CDBB728DEDA}"/>
              </a:ext>
            </a:extLst>
          </p:cNvPr>
          <p:cNvSpPr txBox="1"/>
          <p:nvPr/>
        </p:nvSpPr>
        <p:spPr>
          <a:xfrm>
            <a:off x="134471" y="1773986"/>
            <a:ext cx="10838329" cy="4647426"/>
          </a:xfrm>
          <a:prstGeom prst="rect">
            <a:avLst/>
          </a:prstGeom>
          <a:noFill/>
        </p:spPr>
        <p:txBody>
          <a:bodyPr wrap="square" rtlCol="0">
            <a:spAutoFit/>
          </a:bodyPr>
          <a:lstStyle/>
          <a:p>
            <a:r>
              <a:rPr lang="en-IN" sz="2400" dirty="0">
                <a:solidFill>
                  <a:srgbClr val="002060"/>
                </a:solidFill>
                <a:latin typeface="Arial" panose="020B0604020202020204" pitchFamily="34" charset="0"/>
                <a:cs typeface="Arial" panose="020B0604020202020204" pitchFamily="34" charset="0"/>
              </a:rPr>
              <a:t>Insights from Model</a:t>
            </a:r>
            <a:br>
              <a:rPr lang="en-IN" sz="2800" dirty="0">
                <a:solidFill>
                  <a:srgbClr val="002060"/>
                </a:solidFill>
              </a:rPr>
            </a:br>
            <a:endParaRPr lang="en-US" sz="1600" dirty="0">
              <a:solidFill>
                <a:srgbClr val="002060"/>
              </a:solidFill>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The consolidated results indicate that </a:t>
            </a:r>
            <a:r>
              <a:rPr lang="en-US" sz="1600" b="1" dirty="0">
                <a:latin typeface="Arial" panose="020B0604020202020204" pitchFamily="34" charset="0"/>
                <a:cs typeface="Arial" panose="020B0604020202020204" pitchFamily="34" charset="0"/>
              </a:rPr>
              <a:t>Random Forest </a:t>
            </a:r>
            <a:r>
              <a:rPr lang="en-US" sz="1600" dirty="0">
                <a:latin typeface="Arial" panose="020B0604020202020204" pitchFamily="34" charset="0"/>
                <a:cs typeface="Arial" panose="020B0604020202020204" pitchFamily="34" charset="0"/>
              </a:rPr>
              <a:t>is the best-performing model for both mobile and laptop users, achieving an accuracy of 98%.</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b="1" dirty="0">
                <a:latin typeface="Arial" panose="020B0604020202020204" pitchFamily="34" charset="0"/>
                <a:cs typeface="Arial" panose="020B0604020202020204" pitchFamily="34" charset="0"/>
              </a:rPr>
              <a:t>Precision</a:t>
            </a:r>
            <a:r>
              <a:rPr lang="en-US" sz="1600" dirty="0">
                <a:latin typeface="Arial" panose="020B0604020202020204" pitchFamily="34" charset="0"/>
                <a:cs typeface="Arial" panose="020B0604020202020204" pitchFamily="34" charset="0"/>
              </a:rPr>
              <a:t> - identified as the key evaluation metric for this problem - reached 100% for both user groups, meaning all customers predicted to purchase the product actually did.</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Precision measures how many of the predicted positive cases are truly positive, and in this case, it confirms the model's perfect accuracy in identifying buyers.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Additionally, the Random Forest model outperformed others in terms of </a:t>
            </a:r>
            <a:r>
              <a:rPr lang="en-US" sz="1600" b="1" dirty="0">
                <a:latin typeface="Arial" panose="020B0604020202020204" pitchFamily="34" charset="0"/>
                <a:cs typeface="Arial" panose="020B0604020202020204" pitchFamily="34" charset="0"/>
              </a:rPr>
              <a:t>Recall and F1 score</a:t>
            </a:r>
            <a:r>
              <a:rPr lang="en-US" sz="1600" dirty="0">
                <a:latin typeface="Arial" panose="020B0604020202020204" pitchFamily="34" charset="0"/>
                <a:cs typeface="Arial" panose="020B0604020202020204" pitchFamily="34" charset="0"/>
              </a:rPr>
              <a:t>, further validating its effectiveness.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In summary, for </a:t>
            </a:r>
            <a:r>
              <a:rPr lang="en-US" sz="1600" b="1" dirty="0">
                <a:latin typeface="Arial" panose="020B0604020202020204" pitchFamily="34" charset="0"/>
                <a:cs typeface="Arial" panose="020B0604020202020204" pitchFamily="34" charset="0"/>
              </a:rPr>
              <a:t>both laptop and mobile users</a:t>
            </a:r>
            <a:r>
              <a:rPr lang="en-US" sz="1600" dirty="0">
                <a:latin typeface="Arial" panose="020B0604020202020204" pitchFamily="34" charset="0"/>
                <a:cs typeface="Arial" panose="020B0604020202020204" pitchFamily="34" charset="0"/>
              </a:rPr>
              <a:t>, every predicted buyer was an actual buyer, representing </a:t>
            </a:r>
            <a:r>
              <a:rPr lang="en-US" sz="1600" b="1" dirty="0">
                <a:latin typeface="Arial" panose="020B0604020202020204" pitchFamily="34" charset="0"/>
                <a:cs typeface="Arial" panose="020B0604020202020204" pitchFamily="34" charset="0"/>
              </a:rPr>
              <a:t>the highest possible precision</a:t>
            </a:r>
            <a:r>
              <a:rPr lang="en-US" sz="1600" dirty="0">
                <a:latin typeface="Arial" panose="020B0604020202020204" pitchFamily="34" charset="0"/>
                <a:cs typeface="Arial" panose="020B0604020202020204" pitchFamily="34" charset="0"/>
              </a:rPr>
              <a:t> the model can deliver.</a:t>
            </a:r>
          </a:p>
          <a:p>
            <a:endParaRPr lang="en-IN" sz="1600" dirty="0">
              <a:solidFill>
                <a:srgbClr val="002060"/>
              </a:solidFill>
              <a:latin typeface="Arial" panose="020B0604020202020204" pitchFamily="34" charset="0"/>
              <a:cs typeface="Arial" panose="020B0604020202020204" pitchFamily="34" charset="0"/>
            </a:endParaRPr>
          </a:p>
          <a:p>
            <a:pPr>
              <a:buClr>
                <a:srgbClr val="0070C0"/>
              </a:buClr>
            </a:pPr>
            <a:r>
              <a:rPr lang="en-IN" sz="1600" dirty="0">
                <a:solidFill>
                  <a:srgbClr val="00206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786787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D97B9-71D2-EC8B-BCCF-F460FA4A862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2CFB94F-DC31-E129-E5D6-40ABDA947492}"/>
              </a:ext>
            </a:extLst>
          </p:cNvPr>
          <p:cNvSpPr/>
          <p:nvPr/>
        </p:nvSpPr>
        <p:spPr>
          <a:xfrm>
            <a:off x="757571" y="920188"/>
            <a:ext cx="10676857"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Insights from Analysis </a:t>
            </a:r>
            <a:r>
              <a:rPr lang="en-US" sz="1400" b="1" dirty="0">
                <a:solidFill>
                  <a:srgbClr val="0070C0"/>
                </a:solidFill>
                <a:latin typeface="Arial" panose="020B0604020202020204" pitchFamily="34" charset="0"/>
                <a:cs typeface="Arial" panose="020B0604020202020204" pitchFamily="34" charset="0"/>
              </a:rPr>
              <a:t>(contd.) </a:t>
            </a:r>
          </a:p>
        </p:txBody>
      </p:sp>
      <p:sp>
        <p:nvSpPr>
          <p:cNvPr id="7" name="TextBox 6">
            <a:extLst>
              <a:ext uri="{FF2B5EF4-FFF2-40B4-BE49-F238E27FC236}">
                <a16:creationId xmlns:a16="http://schemas.microsoft.com/office/drawing/2014/main" id="{546EE234-76FD-86C4-C089-8402894E921D}"/>
              </a:ext>
            </a:extLst>
          </p:cNvPr>
          <p:cNvSpPr txBox="1"/>
          <p:nvPr/>
        </p:nvSpPr>
        <p:spPr>
          <a:xfrm>
            <a:off x="71718" y="1773986"/>
            <a:ext cx="10901082" cy="3416320"/>
          </a:xfrm>
          <a:prstGeom prst="rect">
            <a:avLst/>
          </a:prstGeom>
          <a:noFill/>
        </p:spPr>
        <p:txBody>
          <a:bodyPr wrap="square" rtlCol="0">
            <a:spAutoFit/>
          </a:bodyPr>
          <a:lstStyle/>
          <a:p>
            <a:r>
              <a:rPr lang="en-IN" sz="2400" dirty="0">
                <a:solidFill>
                  <a:srgbClr val="002060"/>
                </a:solidFill>
                <a:latin typeface="Arial" panose="020B0604020202020204" pitchFamily="34" charset="0"/>
                <a:cs typeface="Arial" panose="020B0604020202020204" pitchFamily="34" charset="0"/>
              </a:rPr>
              <a:t>Insights from Model</a:t>
            </a:r>
            <a:br>
              <a:rPr lang="en-IN" sz="2800" dirty="0">
                <a:solidFill>
                  <a:srgbClr val="002060"/>
                </a:solidFill>
              </a:rPr>
            </a:br>
            <a:endParaRPr lang="en-US" sz="1600" dirty="0">
              <a:solidFill>
                <a:srgbClr val="002060"/>
              </a:solidFill>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Choosing the right model significantly enhances prediction accuracy and makes it more reliable for decision-making. With </a:t>
            </a:r>
            <a:r>
              <a:rPr lang="en-US" sz="1600" b="1" dirty="0">
                <a:latin typeface="Arial" panose="020B0604020202020204" pitchFamily="34" charset="0"/>
                <a:cs typeface="Arial" panose="020B0604020202020204" pitchFamily="34" charset="0"/>
              </a:rPr>
              <a:t>Random Forest </a:t>
            </a:r>
            <a:r>
              <a:rPr lang="en-US" sz="1600" dirty="0">
                <a:latin typeface="Arial" panose="020B0604020202020204" pitchFamily="34" charset="0"/>
                <a:cs typeface="Arial" panose="020B0604020202020204" pitchFamily="34" charset="0"/>
              </a:rPr>
              <a:t>selected, the model was trained on the full dataset and is now ready to generate predictions using independent variables.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In this case, using social media attributes - such as time spent on travel websites, number of likes given and received - we can predict a customer's likelihood of purchasing travel packages with </a:t>
            </a:r>
            <a:r>
              <a:rPr lang="en-US" sz="1600" b="1" dirty="0">
                <a:latin typeface="Arial" panose="020B0604020202020204" pitchFamily="34" charset="0"/>
                <a:cs typeface="Arial" panose="020B0604020202020204" pitchFamily="34" charset="0"/>
              </a:rPr>
              <a:t>98% accuracy</a:t>
            </a:r>
            <a:r>
              <a:rPr lang="en-US" sz="1600" dirty="0">
                <a:latin typeface="Arial" panose="020B0604020202020204" pitchFamily="34" charset="0"/>
                <a:cs typeface="Arial" panose="020B0604020202020204" pitchFamily="34" charset="0"/>
              </a:rPr>
              <a:t>.</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This approach enables the aviation company to target its audience more effectively, reducing marketing costs and maximizing return on investment in digital campaigns.</a:t>
            </a:r>
          </a:p>
          <a:p>
            <a:endParaRPr lang="en-IN" sz="1600" dirty="0">
              <a:solidFill>
                <a:srgbClr val="002060"/>
              </a:solidFill>
              <a:latin typeface="Arial" panose="020B0604020202020204" pitchFamily="34" charset="0"/>
              <a:cs typeface="Arial" panose="020B0604020202020204" pitchFamily="34" charset="0"/>
            </a:endParaRPr>
          </a:p>
          <a:p>
            <a:pPr>
              <a:buClr>
                <a:srgbClr val="0070C0"/>
              </a:buClr>
            </a:pPr>
            <a:r>
              <a:rPr lang="en-IN" sz="1600" dirty="0">
                <a:solidFill>
                  <a:srgbClr val="00206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5451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02C64F-B802-E343-B318-70D330A9A3FE}"/>
              </a:ext>
            </a:extLst>
          </p:cNvPr>
          <p:cNvSpPr/>
          <p:nvPr/>
        </p:nvSpPr>
        <p:spPr>
          <a:xfrm>
            <a:off x="3408571" y="917294"/>
            <a:ext cx="5374857"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Recommendations</a:t>
            </a:r>
          </a:p>
        </p:txBody>
      </p:sp>
      <p:sp>
        <p:nvSpPr>
          <p:cNvPr id="3" name="TextBox 2">
            <a:extLst>
              <a:ext uri="{FF2B5EF4-FFF2-40B4-BE49-F238E27FC236}">
                <a16:creationId xmlns:a16="http://schemas.microsoft.com/office/drawing/2014/main" id="{CB118F15-DE18-A1EE-911B-4C6A199C2514}"/>
              </a:ext>
            </a:extLst>
          </p:cNvPr>
          <p:cNvSpPr txBox="1"/>
          <p:nvPr/>
        </p:nvSpPr>
        <p:spPr>
          <a:xfrm>
            <a:off x="134471" y="1753578"/>
            <a:ext cx="11080376" cy="3539430"/>
          </a:xfrm>
          <a:prstGeom prst="rect">
            <a:avLst/>
          </a:prstGeom>
          <a:noFill/>
        </p:spPr>
        <p:txBody>
          <a:bodyPr wrap="square">
            <a:spAutoFit/>
          </a:bodyPr>
          <a:lstStyle/>
          <a:p>
            <a:pPr>
              <a:buNone/>
            </a:pPr>
            <a:br>
              <a:rPr lang="en-US" sz="1600" dirty="0"/>
            </a:br>
            <a:r>
              <a:rPr lang="en-US" sz="1600" dirty="0">
                <a:latin typeface="Arial" panose="020B0604020202020204" pitchFamily="34" charset="0"/>
                <a:cs typeface="Arial" panose="020B0604020202020204" pitchFamily="34" charset="0"/>
              </a:rPr>
              <a:t>The dataset analysis has provided the company with insights into </a:t>
            </a:r>
            <a:r>
              <a:rPr lang="en-US" sz="1600" b="1" dirty="0">
                <a:latin typeface="Arial" panose="020B0604020202020204" pitchFamily="34" charset="0"/>
                <a:cs typeface="Arial" panose="020B0604020202020204" pitchFamily="34" charset="0"/>
              </a:rPr>
              <a:t>user behavior </a:t>
            </a:r>
            <a:r>
              <a:rPr lang="en-US" sz="1600" dirty="0">
                <a:latin typeface="Arial" panose="020B0604020202020204" pitchFamily="34" charset="0"/>
                <a:cs typeface="Arial" panose="020B0604020202020204" pitchFamily="34" charset="0"/>
              </a:rPr>
              <a:t>on social media. By focusing on 10 key variables, the organization can significantly boost its revenue potential.</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Given the </a:t>
            </a:r>
            <a:r>
              <a:rPr lang="en-US" sz="1600" b="1" dirty="0">
                <a:latin typeface="Arial" panose="020B0604020202020204" pitchFamily="34" charset="0"/>
                <a:cs typeface="Arial" panose="020B0604020202020204" pitchFamily="34" charset="0"/>
              </a:rPr>
              <a:t>high cost </a:t>
            </a:r>
            <a:r>
              <a:rPr lang="en-US" sz="1600" dirty="0">
                <a:latin typeface="Arial" panose="020B0604020202020204" pitchFamily="34" charset="0"/>
                <a:cs typeface="Arial" panose="020B0604020202020204" pitchFamily="34" charset="0"/>
              </a:rPr>
              <a:t>of digital advertising, the company should prioritize mobile devices for ad deployment, as most users prefer browsing on handheld devices.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b="1" dirty="0">
                <a:latin typeface="Arial" panose="020B0604020202020204" pitchFamily="34" charset="0"/>
                <a:cs typeface="Arial" panose="020B0604020202020204" pitchFamily="34" charset="0"/>
              </a:rPr>
              <a:t>Tailored travel packages </a:t>
            </a:r>
            <a:r>
              <a:rPr lang="en-US" sz="1600" dirty="0">
                <a:latin typeface="Arial" panose="020B0604020202020204" pitchFamily="34" charset="0"/>
                <a:cs typeface="Arial" panose="020B0604020202020204" pitchFamily="34" charset="0"/>
              </a:rPr>
              <a:t>can be created for popular destinations like beaches, with group discounts offered for bookings of more than three people.</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For business or finance-related travel, the company could offer </a:t>
            </a:r>
            <a:r>
              <a:rPr lang="en-US" sz="1600" b="1" dirty="0">
                <a:latin typeface="Arial" panose="020B0604020202020204" pitchFamily="34" charset="0"/>
                <a:cs typeface="Arial" panose="020B0604020202020204" pitchFamily="34" charset="0"/>
              </a:rPr>
              <a:t>complimentary services </a:t>
            </a:r>
            <a:r>
              <a:rPr lang="en-US" sz="1600" dirty="0">
                <a:latin typeface="Arial" panose="020B0604020202020204" pitchFamily="34" charset="0"/>
                <a:cs typeface="Arial" panose="020B0604020202020204" pitchFamily="34" charset="0"/>
              </a:rPr>
              <a:t>as part of the package to enhance value.</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Additionally, </a:t>
            </a:r>
            <a:r>
              <a:rPr lang="en-US" sz="1600" b="1" dirty="0">
                <a:latin typeface="Arial" panose="020B0604020202020204" pitchFamily="34" charset="0"/>
                <a:cs typeface="Arial" panose="020B0604020202020204" pitchFamily="34" charset="0"/>
              </a:rPr>
              <a:t>special discounts </a:t>
            </a:r>
            <a:r>
              <a:rPr lang="en-US" sz="1600" dirty="0">
                <a:latin typeface="Arial" panose="020B0604020202020204" pitchFamily="34" charset="0"/>
                <a:cs typeface="Arial" panose="020B0604020202020204" pitchFamily="34" charset="0"/>
              </a:rPr>
              <a:t>for medical travelers can help build customer trust and foster long-term loyalty.</a:t>
            </a:r>
          </a:p>
        </p:txBody>
      </p:sp>
    </p:spTree>
    <p:extLst>
      <p:ext uri="{BB962C8B-B14F-4D97-AF65-F5344CB8AC3E}">
        <p14:creationId xmlns:p14="http://schemas.microsoft.com/office/powerpoint/2010/main" val="202373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7B664-F57E-891E-11FB-A6AC427ABBF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A013383-5C83-2D79-A40B-8A7083E397CF}"/>
              </a:ext>
            </a:extLst>
          </p:cNvPr>
          <p:cNvSpPr/>
          <p:nvPr/>
        </p:nvSpPr>
        <p:spPr>
          <a:xfrm>
            <a:off x="3137647" y="917294"/>
            <a:ext cx="6598024"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Recommendations </a:t>
            </a:r>
            <a:r>
              <a:rPr lang="en-US" sz="1400" b="1" dirty="0">
                <a:solidFill>
                  <a:srgbClr val="0070C0"/>
                </a:solidFill>
                <a:latin typeface="Arial" panose="020B0604020202020204" pitchFamily="34" charset="0"/>
                <a:cs typeface="Arial" panose="020B0604020202020204" pitchFamily="34" charset="0"/>
              </a:rPr>
              <a:t>(contd.) </a:t>
            </a:r>
          </a:p>
        </p:txBody>
      </p:sp>
      <p:sp>
        <p:nvSpPr>
          <p:cNvPr id="3" name="TextBox 2">
            <a:extLst>
              <a:ext uri="{FF2B5EF4-FFF2-40B4-BE49-F238E27FC236}">
                <a16:creationId xmlns:a16="http://schemas.microsoft.com/office/drawing/2014/main" id="{AE674717-A967-078A-305D-07CA26C139D8}"/>
              </a:ext>
            </a:extLst>
          </p:cNvPr>
          <p:cNvSpPr txBox="1"/>
          <p:nvPr/>
        </p:nvSpPr>
        <p:spPr>
          <a:xfrm>
            <a:off x="134471" y="1753578"/>
            <a:ext cx="11080376" cy="2554545"/>
          </a:xfrm>
          <a:prstGeom prst="rect">
            <a:avLst/>
          </a:prstGeom>
          <a:noFill/>
        </p:spPr>
        <p:txBody>
          <a:bodyPr wrap="square">
            <a:spAutoFit/>
          </a:bodyPr>
          <a:lstStyle/>
          <a:p>
            <a:pPr>
              <a:buNone/>
            </a:pPr>
            <a:br>
              <a:rPr lang="en-US" sz="1600" dirty="0"/>
            </a:br>
            <a:r>
              <a:rPr lang="en-US" sz="1600" dirty="0">
                <a:latin typeface="Arial" panose="020B0604020202020204" pitchFamily="34" charset="0"/>
                <a:cs typeface="Arial" panose="020B0604020202020204" pitchFamily="34" charset="0"/>
              </a:rPr>
              <a:t>To encourage users to stay engaged and follow the company’s page, </a:t>
            </a:r>
            <a:r>
              <a:rPr lang="en-US" sz="1600" b="1" dirty="0">
                <a:latin typeface="Arial" panose="020B0604020202020204" pitchFamily="34" charset="0"/>
                <a:cs typeface="Arial" panose="020B0604020202020204" pitchFamily="34" charset="0"/>
              </a:rPr>
              <a:t>interactive games </a:t>
            </a:r>
            <a:r>
              <a:rPr lang="en-US" sz="1600" dirty="0">
                <a:latin typeface="Arial" panose="020B0604020202020204" pitchFamily="34" charset="0"/>
                <a:cs typeface="Arial" panose="020B0604020202020204" pitchFamily="34" charset="0"/>
              </a:rPr>
              <a:t>could be introduced, offering rewards such as discounts, complimentary services, or free stays at partner hotels for winners.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pPr>
              <a:buNone/>
            </a:pPr>
            <a:r>
              <a:rPr lang="en-US" sz="1600" dirty="0">
                <a:latin typeface="Arial" panose="020B0604020202020204" pitchFamily="34" charset="0"/>
                <a:cs typeface="Arial" panose="020B0604020202020204" pitchFamily="34" charset="0"/>
              </a:rPr>
              <a:t>Customers could also be incentivized to </a:t>
            </a:r>
            <a:r>
              <a:rPr lang="en-US" sz="1600" b="1" dirty="0">
                <a:latin typeface="Arial" panose="020B0604020202020204" pitchFamily="34" charset="0"/>
                <a:cs typeface="Arial" panose="020B0604020202020204" pitchFamily="34" charset="0"/>
              </a:rPr>
              <a:t>comment or share</a:t>
            </a:r>
            <a:r>
              <a:rPr lang="en-US" sz="1600" dirty="0">
                <a:latin typeface="Arial" panose="020B0604020202020204" pitchFamily="34" charset="0"/>
                <a:cs typeface="Arial" panose="020B0604020202020204" pitchFamily="34" charset="0"/>
              </a:rPr>
              <a:t> posts on the company page by earning redeemable points for future travel discounts.</a:t>
            </a: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Additionally, offering referral </a:t>
            </a:r>
            <a:r>
              <a:rPr lang="en-US" sz="1600" b="1" dirty="0">
                <a:latin typeface="Arial" panose="020B0604020202020204" pitchFamily="34" charset="0"/>
                <a:cs typeface="Arial" panose="020B0604020202020204" pitchFamily="34" charset="0"/>
              </a:rPr>
              <a:t>coupons</a:t>
            </a:r>
            <a:r>
              <a:rPr lang="en-US" sz="1600" dirty="0">
                <a:latin typeface="Arial" panose="020B0604020202020204" pitchFamily="34" charset="0"/>
                <a:cs typeface="Arial" panose="020B0604020202020204" pitchFamily="34" charset="0"/>
              </a:rPr>
              <a:t> to repeat customers for their friends and family can help attract new customers, boosting both footfall and revenue.</a:t>
            </a:r>
          </a:p>
          <a:p>
            <a:pPr>
              <a:buNone/>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8841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79C24-9309-6F0C-C531-3D65464943F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D3FD13D-ACFE-71BC-BAEB-3854EE705BFC}"/>
              </a:ext>
            </a:extLst>
          </p:cNvPr>
          <p:cNvSpPr/>
          <p:nvPr/>
        </p:nvSpPr>
        <p:spPr>
          <a:xfrm>
            <a:off x="2628600" y="3075057"/>
            <a:ext cx="6598024"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07248117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3239</TotalTime>
  <Words>1460</Words>
  <Application>Microsoft Office PowerPoint</Application>
  <PresentationFormat>Widescreen</PresentationFormat>
  <Paragraphs>270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Rashmi P</dc:creator>
  <cp:lastModifiedBy>GNANASEKARAN M</cp:lastModifiedBy>
  <cp:revision>171</cp:revision>
  <dcterms:created xsi:type="dcterms:W3CDTF">2019-12-31T09:37:22Z</dcterms:created>
  <dcterms:modified xsi:type="dcterms:W3CDTF">2025-05-02T13:37:17Z</dcterms:modified>
</cp:coreProperties>
</file>